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6"/>
  </p:notesMasterIdLst>
  <p:sldIdLst>
    <p:sldId id="256" r:id="rId2"/>
    <p:sldId id="287" r:id="rId3"/>
    <p:sldId id="292" r:id="rId4"/>
    <p:sldId id="294" r:id="rId5"/>
    <p:sldId id="295" r:id="rId6"/>
    <p:sldId id="296" r:id="rId7"/>
    <p:sldId id="300" r:id="rId8"/>
    <p:sldId id="293" r:id="rId9"/>
    <p:sldId id="297" r:id="rId10"/>
    <p:sldId id="298" r:id="rId11"/>
    <p:sldId id="299" r:id="rId12"/>
    <p:sldId id="301" r:id="rId13"/>
    <p:sldId id="302" r:id="rId14"/>
    <p:sldId id="264" r:id="rId15"/>
  </p:sldIdLst>
  <p:sldSz cx="9144000" cy="5143500" type="screen16x9"/>
  <p:notesSz cx="6858000" cy="9144000"/>
  <p:embeddedFontLst>
    <p:embeddedFont>
      <p:font typeface="Anek Malayalam" panose="020B0604020202020204" charset="0"/>
      <p:regular r:id="rId17"/>
      <p:bold r:id="rId18"/>
    </p:embeddedFont>
    <p:embeddedFont>
      <p:font typeface="Anek Malayalam SemiBold" panose="020B0604020202020204" charset="0"/>
      <p:regular r:id="rId19"/>
      <p:bold r:id="rId20"/>
    </p:embeddedFont>
    <p:embeddedFont>
      <p:font typeface="Helvetica Neue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jith Rajan" userId="ec11bca0e4bee75f" providerId="LiveId" clId="{7B4F392D-EAB3-4CE7-903E-F84869825F47}"/>
    <pc:docChg chg="undo custSel addSld delSld modSld sldOrd">
      <pc:chgData name="Sreejith Rajan" userId="ec11bca0e4bee75f" providerId="LiveId" clId="{7B4F392D-EAB3-4CE7-903E-F84869825F47}" dt="2025-12-04T14:51:52.436" v="3039" actId="20577"/>
      <pc:docMkLst>
        <pc:docMk/>
      </pc:docMkLst>
      <pc:sldChg chg="modSp add mod">
        <pc:chgData name="Sreejith Rajan" userId="ec11bca0e4bee75f" providerId="LiveId" clId="{7B4F392D-EAB3-4CE7-903E-F84869825F47}" dt="2025-12-04T14:51:52.436" v="3039" actId="20577"/>
        <pc:sldMkLst>
          <pc:docMk/>
          <pc:sldMk cId="2943669043" sldId="300"/>
        </pc:sldMkLst>
        <pc:spChg chg="mod">
          <ac:chgData name="Sreejith Rajan" userId="ec11bca0e4bee75f" providerId="LiveId" clId="{7B4F392D-EAB3-4CE7-903E-F84869825F47}" dt="2025-12-04T14:51:52.436" v="3039" actId="20577"/>
          <ac:spMkLst>
            <pc:docMk/>
            <pc:sldMk cId="2943669043" sldId="300"/>
            <ac:spMk id="55" creationId="{F05DBA0B-AEB7-A742-748F-8096C4F5126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3CC0674-90B6-EAEB-6338-ED422B19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355D79EB-42FF-85CA-8FFC-F2A42F043D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4340FE91-4FAE-F81E-4431-09BEF7A1AC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629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2B41D3A-F0B9-2ECF-8D39-6A610F1D3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21D39B66-EF5E-C216-F469-819302FE56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E0ECB3E6-849C-9CFB-686A-26E0FDB256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8063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E5E2299-33B5-D4C8-7B43-69978D4ED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EADCC84D-4B37-B5B6-AAB4-48053F2340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0D9F655F-C4ED-2E7D-A654-0CDB55D5F3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15302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3E338583-5EBE-3D46-9A19-1FC177D59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195A0A5B-233B-6B82-01C3-F8392E9666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F20258AE-4146-507E-B510-81C49D95EB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437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F674C1B7-1A8A-718F-391F-C3C3DE01C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68FA9B6A-8FF0-1C20-5BC2-F21B58B104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96F58945-F767-FED2-0BD8-9ECE12F5D2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4055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D8A7E75D-6DE8-4374-0019-B62F1A9D8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B0257B4C-5AEA-C09A-661B-8A342137F6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CA80F90F-E0D9-2797-EE1C-2F7DBEC4AA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2133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6E1C82A6-69CA-662F-C942-B535CA359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75E45C04-8DC1-A068-65F2-2844E51EEC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6A832335-8F32-AFA5-12C6-E568ECDB8E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9462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B47EB738-0F5E-F78A-48F1-A456B1F23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7F5CDB28-E77A-73E1-0FD7-E282959415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B0714091-90AF-B6E4-1408-976F3786D4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5804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CE34B934-E38F-CD78-04DF-B0002D8D4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F43F1F07-7B6F-E409-918D-6E1E346E5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BF0DCAC1-43BC-4251-66ED-CAFD63C8E2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9454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>
          <a:extLst>
            <a:ext uri="{FF2B5EF4-FFF2-40B4-BE49-F238E27FC236}">
              <a16:creationId xmlns:a16="http://schemas.microsoft.com/office/drawing/2014/main" id="{179F22A9-2AED-04C1-4F6D-62C188D83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2b50d283_0_18:notes">
            <a:extLst>
              <a:ext uri="{FF2B5EF4-FFF2-40B4-BE49-F238E27FC236}">
                <a16:creationId xmlns:a16="http://schemas.microsoft.com/office/drawing/2014/main" id="{47A01225-4475-A628-1ACE-B6A07939C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2b50d283_0_18:notes">
            <a:extLst>
              <a:ext uri="{FF2B5EF4-FFF2-40B4-BE49-F238E27FC236}">
                <a16:creationId xmlns:a16="http://schemas.microsoft.com/office/drawing/2014/main" id="{7EDD5F75-9E54-A243-AE51-5B237631DB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87070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f2b50d28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f2b50d28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Heading &amp; Faculty Nam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Anek Malayalam SemiBold"/>
              <a:buNone/>
              <a:defRPr sz="4000">
                <a:latin typeface="Anek Malayalam SemiBold"/>
                <a:ea typeface="Anek Malayalam SemiBold"/>
                <a:cs typeface="Anek Malayalam SemiBold"/>
                <a:sym typeface="Anek Malayalam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2698250" y="1152475"/>
            <a:ext cx="5905500" cy="24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Font typeface="Anek Malayalam"/>
              <a:buNone/>
              <a:defRPr sz="2600" b="1"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2731850" y="2066275"/>
            <a:ext cx="602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nek Malayalam"/>
              <a:buNone/>
              <a:defRPr sz="2800" b="1">
                <a:solidFill>
                  <a:schemeClr val="accent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698250" y="1074550"/>
            <a:ext cx="5905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nek Malayalam"/>
              <a:buChar char="●"/>
              <a:defRPr sz="1800"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●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○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nek Malayalam"/>
              <a:buChar char="■"/>
              <a:defRPr>
                <a:solidFill>
                  <a:schemeClr val="dk1"/>
                </a:solidFill>
                <a:latin typeface="Anek Malayalam"/>
                <a:ea typeface="Anek Malayalam"/>
                <a:cs typeface="Anek Malayalam"/>
                <a:sym typeface="Anek Malayalam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0"/>
            <a:ext cx="2286000" cy="513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nek Malayalam"/>
              <a:ea typeface="Anek Malayalam"/>
              <a:cs typeface="Anek Malayalam"/>
              <a:sym typeface="Anek Malayalam"/>
            </a:endParaRPr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7">
            <a:alphaModFix/>
          </a:blip>
          <a:srcRect l="3279" r="3288"/>
          <a:stretch/>
        </p:blipFill>
        <p:spPr>
          <a:xfrm>
            <a:off x="601275" y="338099"/>
            <a:ext cx="1083450" cy="4551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ctrTitle"/>
          </p:nvPr>
        </p:nvSpPr>
        <p:spPr>
          <a:xfrm>
            <a:off x="2784351" y="749150"/>
            <a:ext cx="59385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Interrupts in Atmega328</a:t>
            </a:r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ubTitle" idx="1"/>
          </p:nvPr>
        </p:nvSpPr>
        <p:spPr>
          <a:xfrm>
            <a:off x="2805801" y="2834125"/>
            <a:ext cx="5895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Dr.Sreejith Rajan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DD38584-9F2E-A179-FCB7-9F46BA70F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C4CE2FAD-1A13-21FB-4CDB-D7E0702E41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19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Interrupts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FF1E4D12-E5A8-7B19-694A-8370FEB4E4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6896" y="1083767"/>
            <a:ext cx="6528207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44500">
              <a:buSzPts val="2000"/>
            </a:pPr>
            <a:r>
              <a:rPr lang="en-US" sz="2400" dirty="0"/>
              <a:t>An </a:t>
            </a:r>
            <a:r>
              <a:rPr lang="en-US" sz="2400" b="1" dirty="0"/>
              <a:t>interrupt</a:t>
            </a:r>
            <a:r>
              <a:rPr lang="en-US" sz="2400" dirty="0"/>
              <a:t> is a </a:t>
            </a:r>
            <a:r>
              <a:rPr lang="en-US" sz="2400" b="1" dirty="0"/>
              <a:t>sudden event</a:t>
            </a:r>
            <a:r>
              <a:rPr lang="en-US" sz="2400" dirty="0"/>
              <a:t> that </a:t>
            </a:r>
            <a:r>
              <a:rPr lang="en-US" sz="2400" b="1" dirty="0"/>
              <a:t>pauses the normal execution</a:t>
            </a:r>
            <a:r>
              <a:rPr lang="en-US" sz="2400" dirty="0"/>
              <a:t> of a program and forces the CPU to temporarily run a </a:t>
            </a:r>
            <a:r>
              <a:rPr lang="en-US" sz="2400" b="1" dirty="0">
                <a:solidFill>
                  <a:srgbClr val="FF0000"/>
                </a:solidFill>
              </a:rPr>
              <a:t>special piece of code </a:t>
            </a:r>
            <a:r>
              <a:rPr lang="en-US" sz="2400" b="1" dirty="0"/>
              <a:t>(ISR – Interrupt Service Routine)</a:t>
            </a:r>
            <a:r>
              <a:rPr lang="en-US" sz="2400" dirty="0"/>
              <a:t>, after which the CPU returns to where it left off.</a:t>
            </a:r>
            <a:endParaRPr lang="en-US" sz="18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584200" lvl="1" indent="0">
              <a:buSzPts val="2000"/>
              <a:buNone/>
            </a:pP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99D143-8BAE-94DC-08F8-20BCB21DAA64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59199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6E301D25-5CC5-B639-2EAE-703393880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EDC9C741-9EF9-AD1A-B10B-C0F0FD0E55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19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Types of Interrupts (atmega328)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26607F08-7416-A9D7-E979-6607C70A9B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7736" y="1560286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+mj-lt"/>
              <a:buAutoNum type="arabicPeriod"/>
            </a:pPr>
            <a:r>
              <a:rPr lang="en-IN" b="1" dirty="0"/>
              <a:t>External Interrupts : </a:t>
            </a:r>
            <a:r>
              <a:rPr lang="en-IN" dirty="0"/>
              <a:t>Triggered by signals on external pins.</a:t>
            </a:r>
          </a:p>
          <a:p>
            <a:pPr lvl="1"/>
            <a:r>
              <a:rPr lang="en-IN" b="1" dirty="0"/>
              <a:t>INT0</a:t>
            </a:r>
            <a:r>
              <a:rPr lang="en-IN" dirty="0"/>
              <a:t> → Pin PD2 </a:t>
            </a:r>
          </a:p>
          <a:p>
            <a:pPr lvl="1"/>
            <a:r>
              <a:rPr lang="en-IN" b="1" dirty="0"/>
              <a:t>INT1</a:t>
            </a:r>
            <a:r>
              <a:rPr lang="en-IN" dirty="0"/>
              <a:t> → Pin PD3</a:t>
            </a:r>
          </a:p>
          <a:p>
            <a:pPr lvl="1"/>
            <a:endParaRPr lang="en-IN" dirty="0"/>
          </a:p>
          <a:p>
            <a:r>
              <a:rPr lang="en-IN" b="1" dirty="0"/>
              <a:t>Pin Change Interrupts (PCINT)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PCINT0–7 → Port B (PB0–PB7)</a:t>
            </a:r>
          </a:p>
          <a:p>
            <a:pPr lvl="1"/>
            <a:r>
              <a:rPr lang="en-IN" dirty="0"/>
              <a:t>PCINT8–14 → Port C (PC0–PC6)</a:t>
            </a:r>
          </a:p>
          <a:p>
            <a:pPr lvl="1"/>
            <a:r>
              <a:rPr lang="en-IN" dirty="0"/>
              <a:t>PCINT16–23 → Port D (PD0–PD7)</a:t>
            </a:r>
          </a:p>
          <a:p>
            <a:pPr marL="444500">
              <a:buSzPts val="2000"/>
            </a:pP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0F4F91-FAB7-0C84-8A6A-EF5A56661F21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90133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D563E65-616E-363C-93F5-8CB5CB0B9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298CE9B4-9A85-B3C4-0C7D-3FAA827FED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19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Types of Interrupts (atmega328)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FF113802-DA28-7907-6E53-38E3245C42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7736" y="1560286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114300" indent="0">
              <a:buNone/>
            </a:pPr>
            <a:r>
              <a:rPr lang="en-IN" b="1" dirty="0"/>
              <a:t>2.  Timer/Counter Interrupts</a:t>
            </a:r>
          </a:p>
          <a:p>
            <a:r>
              <a:rPr lang="en-IN" b="1" dirty="0"/>
              <a:t>Timer0 (8-bit)</a:t>
            </a:r>
            <a:endParaRPr lang="en-IN" dirty="0"/>
          </a:p>
          <a:p>
            <a:pPr lvl="1"/>
            <a:r>
              <a:rPr lang="en-IN" dirty="0"/>
              <a:t>Compare Match A (TIMER0_COMPA_vect)</a:t>
            </a:r>
          </a:p>
          <a:p>
            <a:pPr lvl="1"/>
            <a:r>
              <a:rPr lang="en-IN" dirty="0"/>
              <a:t>Compare Match B (TIMER0_COMPB_vect)</a:t>
            </a:r>
          </a:p>
          <a:p>
            <a:pPr lvl="1"/>
            <a:r>
              <a:rPr lang="en-IN" dirty="0"/>
              <a:t>Overflow (TIMER0_OVF_vect)</a:t>
            </a:r>
          </a:p>
          <a:p>
            <a:r>
              <a:rPr lang="en-IN" b="1" dirty="0"/>
              <a:t>Timer1 (16-bit)</a:t>
            </a:r>
            <a:endParaRPr lang="en-IN" dirty="0"/>
          </a:p>
          <a:p>
            <a:pPr lvl="1"/>
            <a:r>
              <a:rPr lang="en-IN" dirty="0"/>
              <a:t>Capture Event (TIMER1_CAPT_vect)</a:t>
            </a:r>
          </a:p>
          <a:p>
            <a:pPr lvl="1"/>
            <a:r>
              <a:rPr lang="en-IN" dirty="0"/>
              <a:t>Compare Match A (TIMER1_COMPA_vect)</a:t>
            </a:r>
          </a:p>
          <a:p>
            <a:pPr lvl="1"/>
            <a:r>
              <a:rPr lang="en-IN" dirty="0"/>
              <a:t>Compare Match B (TIMER1_COMPB_vect)</a:t>
            </a:r>
          </a:p>
          <a:p>
            <a:pPr lvl="1"/>
            <a:r>
              <a:rPr lang="en-IN" dirty="0"/>
              <a:t>Overflow (TIMER1_OVF_vect)</a:t>
            </a:r>
          </a:p>
          <a:p>
            <a:r>
              <a:rPr lang="en-IN" b="1" dirty="0"/>
              <a:t>Timer2 (8-bit)</a:t>
            </a:r>
            <a:endParaRPr lang="en-IN" dirty="0"/>
          </a:p>
          <a:p>
            <a:pPr lvl="1"/>
            <a:r>
              <a:rPr lang="en-IN" dirty="0"/>
              <a:t>Compare Match A (TIMER2_COMPA_vect)</a:t>
            </a:r>
          </a:p>
          <a:p>
            <a:pPr lvl="1"/>
            <a:r>
              <a:rPr lang="en-IN" dirty="0"/>
              <a:t>Compare Match B (TIMER2_COMPB_vect)</a:t>
            </a:r>
          </a:p>
          <a:p>
            <a:pPr lvl="1"/>
            <a:r>
              <a:rPr lang="en-IN" dirty="0"/>
              <a:t>Overflow (TIMER2_OVF_vect)</a:t>
            </a:r>
          </a:p>
          <a:p>
            <a:pPr marL="444500">
              <a:buSzPts val="2000"/>
            </a:pPr>
            <a:endParaRPr lang="en-US" sz="1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3DEEAA-4EA8-14FB-5C68-165F97D8294B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15289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B02ED798-D965-E19F-AD0C-3124CF037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FB8A5D46-B240-4D99-D9C0-3F6490C28F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19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Types of Interrupts (atmega328)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C4EED2E4-4A8C-D745-8F26-A014735843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7736" y="1560286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IN" dirty="0"/>
              <a:t>3. Peripheral Interrupts</a:t>
            </a:r>
          </a:p>
          <a:p>
            <a:pPr lvl="1"/>
            <a:r>
              <a:rPr lang="en-US" b="1" dirty="0"/>
              <a:t>USART</a:t>
            </a:r>
          </a:p>
          <a:p>
            <a:pPr lvl="1"/>
            <a:r>
              <a:rPr lang="en-US" b="1" dirty="0"/>
              <a:t>SPI</a:t>
            </a:r>
          </a:p>
          <a:p>
            <a:pPr lvl="1"/>
            <a:r>
              <a:rPr lang="en-US" b="1" dirty="0"/>
              <a:t>ADC</a:t>
            </a:r>
          </a:p>
          <a:p>
            <a:pPr lvl="1"/>
            <a:r>
              <a:rPr lang="en-US" b="1" dirty="0"/>
              <a:t>I2C</a:t>
            </a:r>
          </a:p>
          <a:p>
            <a:pPr lvl="1"/>
            <a:r>
              <a:rPr lang="en-US" b="1" dirty="0"/>
              <a:t>Analog Comparator</a:t>
            </a:r>
          </a:p>
          <a:p>
            <a:pPr lvl="1"/>
            <a:r>
              <a:rPr lang="en-US" b="1" dirty="0"/>
              <a:t>EPROM Ready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6E59C6-5C84-F5CA-342C-FC45777C18C4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1760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2255E37A-21F5-A1A6-3C40-F9E793C47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F535AB00-9EDB-D5A6-6E1E-340BE66655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19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Types of Interrupts (atmega328)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C728937B-B3AC-3FDB-89F0-2EA70D8FF5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7736" y="1560286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en-IN" dirty="0"/>
              <a:t>4. System Interrupts</a:t>
            </a:r>
          </a:p>
          <a:p>
            <a:pPr lvl="1"/>
            <a:r>
              <a:rPr lang="en-US" b="1" dirty="0"/>
              <a:t>RESET</a:t>
            </a:r>
          </a:p>
          <a:p>
            <a:pPr lvl="1"/>
            <a:r>
              <a:rPr lang="en-US" b="1" dirty="0"/>
              <a:t>Watchdog Timer(If enabled)</a:t>
            </a:r>
          </a:p>
        </p:txBody>
      </p:sp>
    </p:spTree>
    <p:extLst>
      <p:ext uri="{BB962C8B-B14F-4D97-AF65-F5344CB8AC3E}">
        <p14:creationId xmlns:p14="http://schemas.microsoft.com/office/powerpoint/2010/main" val="1080415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9B65A4D-666E-7A97-0F9C-EA0616A87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669C9BC1-D42B-10BD-262B-BBC8E4E6D8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19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algn="ctr">
              <a:lnSpc>
                <a:spcPct val="115000"/>
              </a:lnSpc>
            </a:pPr>
            <a:r>
              <a:rPr lang="en-IN" sz="33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Interrupt Programming</a:t>
            </a:r>
            <a:endParaRPr sz="33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F05DBA0B-AEB7-A742-748F-8096C4F512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7736" y="1560286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r>
              <a:rPr lang="en-US" b="1"/>
              <a:t>Program </a:t>
            </a:r>
            <a:r>
              <a:rPr lang="en-US" b="1" dirty="0"/>
              <a:t>is running normally</a:t>
            </a:r>
          </a:p>
          <a:p>
            <a:r>
              <a:rPr lang="en-US" b="1" dirty="0"/>
              <a:t>Interrupt happens</a:t>
            </a:r>
          </a:p>
          <a:p>
            <a:r>
              <a:rPr lang="en-US" b="1" dirty="0"/>
              <a:t>CPU pauses current execution and jump to the corresponding </a:t>
            </a:r>
            <a:r>
              <a:rPr lang="en-US" b="1" dirty="0">
                <a:solidFill>
                  <a:srgbClr val="FF0000"/>
                </a:solidFill>
              </a:rPr>
              <a:t>Interrupt Vector Table(IVT)-</a:t>
            </a:r>
            <a:r>
              <a:rPr lang="en-US" b="1" dirty="0"/>
              <a:t>An address corresponding to each interrupt</a:t>
            </a:r>
          </a:p>
          <a:p>
            <a:r>
              <a:rPr lang="en-US" b="1" dirty="0"/>
              <a:t>IVT Contains the address of the corresponding </a:t>
            </a:r>
            <a:r>
              <a:rPr lang="en-US" b="1" dirty="0">
                <a:solidFill>
                  <a:srgbClr val="FF0000"/>
                </a:solidFill>
              </a:rPr>
              <a:t>Interrupt Service Routine</a:t>
            </a:r>
            <a:r>
              <a:rPr lang="en-US" b="1" dirty="0"/>
              <a:t>.</a:t>
            </a:r>
          </a:p>
          <a:p>
            <a:r>
              <a:rPr lang="en-US" b="1" dirty="0"/>
              <a:t>CPU Executes ISR and return to the original location where interrupt happened and resumes normal operation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6A073E-217B-A33C-9491-020C9F8EAA0B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43669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3639AB2C-085F-6724-F0EC-204002DE7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60F6E915-346F-0648-5434-0DE850C1C3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19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US" sz="3600" dirty="0"/>
              <a:t>General Process of Interrupt Programming (ATmega328)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91E121BF-B148-C323-2C17-57532AC62F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7736" y="1560286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44500">
              <a:buSzPts val="2000"/>
            </a:pPr>
            <a:r>
              <a:rPr lang="en-US" sz="2400" dirty="0"/>
              <a:t>Step 1 – Enable Global Interrupts</a:t>
            </a:r>
          </a:p>
          <a:p>
            <a:pPr marL="444500">
              <a:buSzPts val="2000"/>
            </a:pPr>
            <a:r>
              <a:rPr lang="en-US" sz="2400" dirty="0"/>
              <a:t>Step 2 – Configure the Peripheral or Source</a:t>
            </a:r>
          </a:p>
          <a:p>
            <a:pPr lvl="1"/>
            <a:r>
              <a:rPr lang="en-IN" dirty="0"/>
              <a:t>Depending on the interrupt source:</a:t>
            </a:r>
          </a:p>
          <a:p>
            <a:pPr lvl="2"/>
            <a:r>
              <a:rPr lang="en-IN" b="1" dirty="0"/>
              <a:t>External interrupt (INT0/INT1)</a:t>
            </a:r>
            <a:r>
              <a:rPr lang="en-IN" dirty="0"/>
              <a:t> → configure </a:t>
            </a:r>
            <a:r>
              <a:rPr lang="en-IN" b="1" dirty="0"/>
              <a:t>EICRA</a:t>
            </a:r>
            <a:r>
              <a:rPr lang="en-IN" dirty="0"/>
              <a:t> (trigger type).</a:t>
            </a:r>
          </a:p>
          <a:p>
            <a:pPr lvl="2"/>
            <a:r>
              <a:rPr lang="en-IN" b="1" dirty="0"/>
              <a:t>Timer interrupt</a:t>
            </a:r>
            <a:r>
              <a:rPr lang="en-IN" dirty="0"/>
              <a:t> → configure </a:t>
            </a:r>
            <a:r>
              <a:rPr lang="en-IN" b="1" dirty="0"/>
              <a:t>TCCR0x/TCCR1x/TCCR2x</a:t>
            </a:r>
            <a:r>
              <a:rPr lang="en-IN" dirty="0"/>
              <a:t> (mode, </a:t>
            </a:r>
            <a:r>
              <a:rPr lang="en-IN" dirty="0" err="1"/>
              <a:t>prescaler</a:t>
            </a:r>
            <a:r>
              <a:rPr lang="en-IN" dirty="0"/>
              <a:t>).</a:t>
            </a:r>
          </a:p>
          <a:p>
            <a:pPr lvl="2"/>
            <a:r>
              <a:rPr lang="en-IN" b="1" dirty="0"/>
              <a:t>ADC/USART/etc.</a:t>
            </a:r>
            <a:r>
              <a:rPr lang="en-IN" dirty="0"/>
              <a:t> → configure their control registers.</a:t>
            </a:r>
          </a:p>
          <a:p>
            <a:pPr marL="101600" indent="0">
              <a:buSzPts val="2000"/>
              <a:buNone/>
            </a:pPr>
            <a:endParaRPr lang="en-US" sz="22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D65B8A-3527-8AA9-A4ED-ECE34D3DE41C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80731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D2652EB-FAC6-9C3D-1425-282305326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DFCF4521-D68B-0B49-4CEF-21DC5F0620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19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US" sz="3600" dirty="0"/>
              <a:t>General Process of Interrupt Programming (ATmega328)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5C6ED6F9-600A-BA4D-CB97-78CEEEFAF9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7736" y="1560286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IN" b="1" dirty="0"/>
              <a:t>Step 3 – Enable the Interrupt in Mask Register</a:t>
            </a:r>
          </a:p>
          <a:p>
            <a:r>
              <a:rPr lang="en-IN" dirty="0"/>
              <a:t>Each peripheral has its own </a:t>
            </a:r>
            <a:r>
              <a:rPr lang="en-IN" b="1" dirty="0"/>
              <a:t>Interrupt Mask Register</a:t>
            </a:r>
            <a:r>
              <a:rPr lang="en-IN" dirty="0"/>
              <a:t>:</a:t>
            </a:r>
          </a:p>
          <a:p>
            <a:pPr marL="114300" indent="0">
              <a:buNone/>
            </a:pPr>
            <a:endParaRPr lang="en-IN" dirty="0"/>
          </a:p>
          <a:p>
            <a:pPr lvl="1"/>
            <a:r>
              <a:rPr lang="en-IN" b="1" dirty="0"/>
              <a:t>EIMSK</a:t>
            </a:r>
            <a:r>
              <a:rPr lang="en-IN" dirty="0"/>
              <a:t> → for external interrupts.</a:t>
            </a:r>
          </a:p>
          <a:p>
            <a:pPr lvl="1"/>
            <a:r>
              <a:rPr lang="en-IN" b="1" dirty="0"/>
              <a:t>TIMSK0/TIMSK1/TIMSK2</a:t>
            </a:r>
            <a:r>
              <a:rPr lang="en-IN" dirty="0"/>
              <a:t> → for timers.</a:t>
            </a:r>
          </a:p>
          <a:p>
            <a:pPr lvl="1"/>
            <a:r>
              <a:rPr lang="en-IN" b="1" dirty="0"/>
              <a:t>ADCSRA</a:t>
            </a:r>
            <a:r>
              <a:rPr lang="en-IN" dirty="0"/>
              <a:t> → for ADC interrupt.</a:t>
            </a:r>
          </a:p>
          <a:p>
            <a:pPr marL="596900" lvl="1" indent="0">
              <a:buNone/>
            </a:pPr>
            <a:endParaRPr lang="en-IN" dirty="0"/>
          </a:p>
          <a:p>
            <a:r>
              <a:rPr lang="en-IN" dirty="0"/>
              <a:t>Setting the right bit tells the MCU:</a:t>
            </a:r>
            <a:br>
              <a:rPr lang="en-IN" dirty="0"/>
            </a:br>
            <a:r>
              <a:rPr lang="en-IN" b="1" dirty="0"/>
              <a:t>“Yes, allow this specific interrupt.”</a:t>
            </a:r>
            <a:endParaRPr lang="en-IN" dirty="0"/>
          </a:p>
          <a:p>
            <a:pPr marL="101600" indent="0">
              <a:buSzPts val="2000"/>
              <a:buNone/>
            </a:pPr>
            <a:endParaRPr lang="en-US" sz="22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C30933-A265-8A62-EF25-AC70B3CA2444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67657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DD9ECBF8-C8AD-541E-DFBE-7FE45D296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63EB519F-82BC-CC2D-0BA3-E1639E408D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19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US" sz="3600" dirty="0"/>
              <a:t>General Process of Interrupt Programming (ATmega328)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C37BE719-C96B-E722-B0C7-DB6DB56C21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7736" y="1560286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Step 4 – Write the ISR (Interrupt Service Routine)</a:t>
            </a:r>
          </a:p>
          <a:p>
            <a:endParaRPr lang="en-US" dirty="0"/>
          </a:p>
          <a:p>
            <a:pPr lvl="1"/>
            <a:r>
              <a:rPr lang="en-US" sz="2000" dirty="0"/>
              <a:t>Define the function that should run when the interrupt occurs.</a:t>
            </a:r>
          </a:p>
        </p:txBody>
      </p:sp>
    </p:spTree>
    <p:extLst>
      <p:ext uri="{BB962C8B-B14F-4D97-AF65-F5344CB8AC3E}">
        <p14:creationId xmlns:p14="http://schemas.microsoft.com/office/powerpoint/2010/main" val="2603797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>
          <a:extLst>
            <a:ext uri="{FF2B5EF4-FFF2-40B4-BE49-F238E27FC236}">
              <a16:creationId xmlns:a16="http://schemas.microsoft.com/office/drawing/2014/main" id="{84FDD294-0E58-835D-F96D-7EE25EC16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>
            <a:extLst>
              <a:ext uri="{FF2B5EF4-FFF2-40B4-BE49-F238E27FC236}">
                <a16:creationId xmlns:a16="http://schemas.microsoft.com/office/drawing/2014/main" id="{7DB02A50-5A7E-C6AB-CC50-E57D30EF6A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250" y="367100"/>
            <a:ext cx="5905500" cy="11931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en-US" sz="3600" dirty="0"/>
              <a:t>General Process of Interrupt Programming (ATmega328)</a:t>
            </a:r>
            <a:endParaRPr dirty="0"/>
          </a:p>
        </p:txBody>
      </p:sp>
      <p:sp>
        <p:nvSpPr>
          <p:cNvPr id="55" name="Google Shape;55;p11">
            <a:extLst>
              <a:ext uri="{FF2B5EF4-FFF2-40B4-BE49-F238E27FC236}">
                <a16:creationId xmlns:a16="http://schemas.microsoft.com/office/drawing/2014/main" id="{ECEA18D3-E35E-6AD1-D8A2-A19DE71A28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37736" y="1560286"/>
            <a:ext cx="5905500" cy="31233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Step 5 – Main Program Loop</a:t>
            </a:r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07CD6-FAB0-C7DF-3BB9-8DB07F7D1621}"/>
              </a:ext>
            </a:extLst>
          </p:cNvPr>
          <p:cNvSpPr txBox="1"/>
          <p:nvPr/>
        </p:nvSpPr>
        <p:spPr>
          <a:xfrm>
            <a:off x="4379174" y="2263973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29475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2ECBCE-667D-DE83-1959-2E0B8DC7D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174" y="244750"/>
            <a:ext cx="5905500" cy="785375"/>
          </a:xfrm>
        </p:spPr>
        <p:txBody>
          <a:bodyPr>
            <a:normAutofit fontScale="90000"/>
          </a:bodyPr>
          <a:lstStyle/>
          <a:p>
            <a:r>
              <a:rPr lang="en-IN" dirty="0"/>
              <a:t>Timer Overflow Interrupt – A new register to learn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21CB23-8C58-8DDF-6A8E-5713F9211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496" y="1076967"/>
            <a:ext cx="5611008" cy="1190791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913DC9A-5FF0-1184-E41C-4486A6A08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296450"/>
              </p:ext>
            </p:extLst>
          </p:nvPr>
        </p:nvGraphicFramePr>
        <p:xfrm>
          <a:off x="2845496" y="2529089"/>
          <a:ext cx="5905500" cy="2286000"/>
        </p:xfrm>
        <a:graphic>
          <a:graphicData uri="http://schemas.openxmlformats.org/drawingml/2006/table">
            <a:tbl>
              <a:tblPr/>
              <a:tblGrid>
                <a:gridCol w="1968500">
                  <a:extLst>
                    <a:ext uri="{9D8B030D-6E8A-4147-A177-3AD203B41FA5}">
                      <a16:colId xmlns:a16="http://schemas.microsoft.com/office/drawing/2014/main" val="2530966976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1268282615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94146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</a:rPr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0000"/>
                          </a:solidFill>
                        </a:rPr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711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OCIE0B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Output Compare Match B Interrupt Enable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549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OCIE0A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Output Compare Match A Interrupt Enable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02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TOIE0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Overflow Interrupt Enable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3100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779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5AC04-CE84-7746-B5FC-679F0834E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5E973B-5344-4C6D-12DD-F7CC77451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3174" y="244750"/>
            <a:ext cx="5905500" cy="785375"/>
          </a:xfrm>
        </p:spPr>
        <p:txBody>
          <a:bodyPr>
            <a:normAutofit fontScale="90000"/>
          </a:bodyPr>
          <a:lstStyle/>
          <a:p>
            <a:r>
              <a:rPr lang="en-IN" dirty="0"/>
              <a:t>A register common to all interrupt programming - SREG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BBE327-DC88-43C5-C721-2EAFCE6DC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645" y="1187162"/>
            <a:ext cx="6565052" cy="9249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1DAB97F-2227-4E0D-98E7-FC9118B74F61}"/>
              </a:ext>
            </a:extLst>
          </p:cNvPr>
          <p:cNvSpPr txBox="1"/>
          <p:nvPr/>
        </p:nvSpPr>
        <p:spPr>
          <a:xfrm>
            <a:off x="2894169" y="2646698"/>
            <a:ext cx="6178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</a:rPr>
              <a:t>Bit 7 controls the interrupts : </a:t>
            </a:r>
            <a:r>
              <a:rPr lang="en-IN" sz="1800" dirty="0">
                <a:solidFill>
                  <a:srgbClr val="FF0000"/>
                </a:solidFill>
              </a:rPr>
              <a:t>sei() </a:t>
            </a:r>
            <a:r>
              <a:rPr lang="en-IN" sz="1800" dirty="0">
                <a:solidFill>
                  <a:schemeClr val="tx1"/>
                </a:solidFill>
              </a:rPr>
              <a:t>enables it and </a:t>
            </a:r>
            <a:r>
              <a:rPr lang="en-IN" sz="1800" dirty="0">
                <a:solidFill>
                  <a:srgbClr val="FF0000"/>
                </a:solidFill>
              </a:rPr>
              <a:t>cli() </a:t>
            </a:r>
            <a:r>
              <a:rPr lang="en-IN" sz="1800" dirty="0">
                <a:solidFill>
                  <a:schemeClr val="tx1"/>
                </a:solidFill>
              </a:rPr>
              <a:t>disables it</a:t>
            </a:r>
          </a:p>
        </p:txBody>
      </p:sp>
    </p:spTree>
    <p:extLst>
      <p:ext uri="{BB962C8B-B14F-4D97-AF65-F5344CB8AC3E}">
        <p14:creationId xmlns:p14="http://schemas.microsoft.com/office/powerpoint/2010/main" val="3714944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/>
        </p:nvSpPr>
        <p:spPr>
          <a:xfrm>
            <a:off x="2510200" y="1939350"/>
            <a:ext cx="6354600" cy="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FE2B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</a:t>
            </a:r>
            <a:r>
              <a:rPr lang="en" sz="3200" b="1">
                <a:solidFill>
                  <a:srgbClr val="B0DA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 b="1">
              <a:solidFill>
                <a:srgbClr val="B0DA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F0F0F0"/>
      </a:dk1>
      <a:lt1>
        <a:srgbClr val="121212"/>
      </a:lt1>
      <a:dk2>
        <a:srgbClr val="808080"/>
      </a:dk2>
      <a:lt2>
        <a:srgbClr val="4A4A4A"/>
      </a:lt2>
      <a:accent1>
        <a:srgbClr val="B0DAFF"/>
      </a:accent1>
      <a:accent2>
        <a:srgbClr val="33997D"/>
      </a:accent2>
      <a:accent3>
        <a:srgbClr val="F87B7C"/>
      </a:accent3>
      <a:accent4>
        <a:srgbClr val="9965AD"/>
      </a:accent4>
      <a:accent5>
        <a:srgbClr val="FFF2BC"/>
      </a:accent5>
      <a:accent6>
        <a:srgbClr val="FFE2B0"/>
      </a:accent6>
      <a:hlink>
        <a:srgbClr val="B0D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</TotalTime>
  <Words>560</Words>
  <Application>Microsoft Office PowerPoint</Application>
  <PresentationFormat>On-screen Show (16:9)</PresentationFormat>
  <Paragraphs>92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Helvetica Neue</vt:lpstr>
      <vt:lpstr>Arial</vt:lpstr>
      <vt:lpstr>Anek Malayalam SemiBold</vt:lpstr>
      <vt:lpstr>Anek Malayalam</vt:lpstr>
      <vt:lpstr>Simple Light</vt:lpstr>
      <vt:lpstr>Interrupts in Atmega328</vt:lpstr>
      <vt:lpstr>Interrupts</vt:lpstr>
      <vt:lpstr>Types of Interrupts (atmega328) </vt:lpstr>
      <vt:lpstr>Types of Interrupts (atmega328) </vt:lpstr>
      <vt:lpstr>Types of Interrupts (atmega328) </vt:lpstr>
      <vt:lpstr>Types of Interrupts (atmega328) </vt:lpstr>
      <vt:lpstr>Interrupt Programming </vt:lpstr>
      <vt:lpstr>General Process of Interrupt Programming (ATmega328)</vt:lpstr>
      <vt:lpstr>General Process of Interrupt Programming (ATmega328)</vt:lpstr>
      <vt:lpstr>General Process of Interrupt Programming (ATmega328)</vt:lpstr>
      <vt:lpstr>General Process of Interrupt Programming (ATmega328)</vt:lpstr>
      <vt:lpstr>Timer Overflow Interrupt – A new register to learn </vt:lpstr>
      <vt:lpstr>A register common to all interrupt programming - SREG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Sreejith Rajan</dc:creator>
  <cp:lastModifiedBy>Sreejith Rajan</cp:lastModifiedBy>
  <cp:revision>30</cp:revision>
  <dcterms:modified xsi:type="dcterms:W3CDTF">2025-12-04T14:51:53Z</dcterms:modified>
</cp:coreProperties>
</file>