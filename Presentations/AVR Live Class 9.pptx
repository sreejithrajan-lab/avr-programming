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8"/>
  </p:notesMasterIdLst>
  <p:sldIdLst>
    <p:sldId id="256" r:id="rId2"/>
    <p:sldId id="287" r:id="rId3"/>
    <p:sldId id="292" r:id="rId4"/>
    <p:sldId id="293" r:id="rId5"/>
    <p:sldId id="274" r:id="rId6"/>
    <p:sldId id="264" r:id="rId7"/>
  </p:sldIdLst>
  <p:sldSz cx="9144000" cy="5143500" type="screen16x9"/>
  <p:notesSz cx="6858000" cy="9144000"/>
  <p:embeddedFontLst>
    <p:embeddedFont>
      <p:font typeface="Anek Malayalam" panose="020B0604020202020204" charset="0"/>
      <p:regular r:id="rId9"/>
      <p:bold r:id="rId10"/>
    </p:embeddedFont>
    <p:embeddedFont>
      <p:font typeface="Anek Malayalam SemiBold" panose="020B0604020202020204" charset="0"/>
      <p:regular r:id="rId11"/>
      <p:bold r:id="rId12"/>
    </p:embeddedFont>
    <p:embeddedFont>
      <p:font typeface="Helvetica Neue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undo custSel addSld delSld modSld sldOrd">
      <pc:chgData name="Sreejith Rajan" userId="ec11bca0e4bee75f" providerId="LiveId" clId="{7B4F392D-EAB3-4CE7-903E-F84869825F47}" dt="2025-12-02T14:00:18.810" v="2138"/>
      <pc:docMkLst>
        <pc:docMk/>
      </pc:docMkLst>
      <pc:sldChg chg="delSp modSp add mod">
        <pc:chgData name="Sreejith Rajan" userId="ec11bca0e4bee75f" providerId="LiveId" clId="{7B4F392D-EAB3-4CE7-903E-F84869825F47}" dt="2025-12-02T14:00:18.810" v="2138"/>
        <pc:sldMkLst>
          <pc:docMk/>
          <pc:sldMk cId="3780731234" sldId="293"/>
        </pc:sldMkLst>
        <pc:spChg chg="del mod">
          <ac:chgData name="Sreejith Rajan" userId="ec11bca0e4bee75f" providerId="LiveId" clId="{7B4F392D-EAB3-4CE7-903E-F84869825F47}" dt="2025-12-02T14:00:18.810" v="2138"/>
          <ac:spMkLst>
            <pc:docMk/>
            <pc:sldMk cId="3780731234" sldId="293"/>
            <ac:spMk id="7" creationId="{A8D65B8A-3527-8AA9-A4ED-ECE34D3DE41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3CC0674-90B6-EAEB-6338-ED422B199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355D79EB-42FF-85CA-8FFC-F2A42F043D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4340FE91-4FAE-F81E-4431-09BEF7A1A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6629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2B41D3A-F0B9-2ECF-8D39-6A610F1D3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21D39B66-EF5E-C216-F469-819302FE56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E0ECB3E6-849C-9CFB-686A-26E0FDB256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8063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E1C82A6-69CA-662F-C942-B535CA359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75E45C04-8DC1-A068-65F2-2844E51EEC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6A832335-8F32-AFA5-12C6-E568ECDB8E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9462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9252589-6268-B43D-1D63-1DD539328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9EE3877F-46F9-4127-2ACB-5A4A6CA64A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8BD85E11-0A7C-4F0C-7CBD-2BBF50288F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0468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f2b50d28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f2b50d28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Heading &amp; Faculty Nam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Anek Malayalam SemiBold"/>
              <a:buNone/>
              <a:defRPr sz="4000">
                <a:latin typeface="Anek Malayalam SemiBold"/>
                <a:ea typeface="Anek Malayalam SemiBold"/>
                <a:cs typeface="Anek Malayalam SemiBold"/>
                <a:sym typeface="Anek Malayalam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2698250" y="1152475"/>
            <a:ext cx="5905500" cy="24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2731850" y="2066275"/>
            <a:ext cx="602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ek Malayalam"/>
              <a:buNone/>
              <a:defRPr sz="2800" b="1">
                <a:solidFill>
                  <a:schemeClr val="accent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98250" y="1074550"/>
            <a:ext cx="5905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ek Malayalam"/>
              <a:buChar char="●"/>
              <a:defRPr sz="18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2286000" cy="513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ek Malayalam"/>
              <a:ea typeface="Anek Malayalam"/>
              <a:cs typeface="Anek Malayalam"/>
              <a:sym typeface="Anek Malayalam"/>
            </a:endParaRPr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7">
            <a:alphaModFix/>
          </a:blip>
          <a:srcRect l="3279" r="3288"/>
          <a:stretch/>
        </p:blipFill>
        <p:spPr>
          <a:xfrm>
            <a:off x="601275" y="338099"/>
            <a:ext cx="1083450" cy="4551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MODULAR PROGRAMMING</a:t>
            </a:r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Dr.Sreejith Rajan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DD38584-9F2E-A179-FCB7-9F46BA70F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C4CE2FAD-1A13-21FB-4CDB-D7E0702E41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1193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Let’s be more professional- Modularity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FF1E4D12-E5A8-7B19-694A-8370FEB4E4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15029" y="1560286"/>
            <a:ext cx="6528207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44500">
              <a:buSzPts val="2000"/>
            </a:pPr>
            <a:r>
              <a:rPr lang="en-US" sz="22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Modularity</a:t>
            </a:r>
          </a:p>
          <a:p>
            <a:pPr marL="444500">
              <a:buSzPts val="2000"/>
            </a:pPr>
            <a:endParaRPr lang="en-US" sz="22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01700" lvl="1">
              <a:buSzPts val="2000"/>
            </a:pP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Breaking a big program into smaller, independent, reusable pieces (modules)</a:t>
            </a:r>
          </a:p>
          <a:p>
            <a:pPr marL="584200" lvl="1" indent="0">
              <a:buSzPts val="2000"/>
              <a:buNone/>
            </a:pPr>
            <a:endParaRPr lang="en-US" sz="18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44500">
              <a:buSzPts val="2000"/>
            </a:pPr>
            <a:r>
              <a:rPr lang="en-IN" sz="24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Idea</a:t>
            </a:r>
          </a:p>
          <a:p>
            <a:pPr marL="901700" lvl="1">
              <a:buSzPts val="2000"/>
            </a:pP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Header files (.h) = "What" (declarations, interfaces)</a:t>
            </a:r>
          </a:p>
          <a:p>
            <a:pPr marL="901700" lvl="1">
              <a:buSzPts val="2000"/>
            </a:pP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 files (.c) = "How" (definitions, implementations)</a:t>
            </a:r>
          </a:p>
          <a:p>
            <a:pPr marL="901700" lvl="1">
              <a:buSzPts val="2000"/>
            </a:pPr>
            <a:r>
              <a:rPr lang="en-US" sz="1800" dirty="0" err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main.c</a:t>
            </a:r>
            <a:r>
              <a:rPr lang="en-US" sz="18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"When/Why" (application logic using the modules)</a:t>
            </a:r>
          </a:p>
          <a:p>
            <a:pPr marL="584200" lvl="1" indent="0">
              <a:buSzPts val="2000"/>
              <a:buNone/>
            </a:pPr>
            <a:endParaRPr lang="en-US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99D143-8BAE-94DC-08F8-20BCB21DAA64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59199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E301D25-5CC5-B639-2EAE-703393880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EDC9C741-9EF9-AD1A-B10B-C0F0FD0E55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1193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Modularity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26607F08-7416-A9D7-E979-6607C70A9B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7736" y="1560286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44500">
              <a:buSzPts val="2000"/>
            </a:pPr>
            <a:r>
              <a:rPr lang="en-IN" sz="2400" dirty="0"/>
              <a:t>Why Modularity is Important?</a:t>
            </a:r>
          </a:p>
          <a:p>
            <a:pPr marL="101600" indent="0">
              <a:buSzPts val="2000"/>
              <a:buNone/>
            </a:pPr>
            <a:endParaRPr lang="en-US" sz="22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869950" lvl="1" indent="-285750">
              <a:buSzPts val="2000"/>
            </a:pPr>
            <a:r>
              <a:rPr lang="en-US" sz="1800" b="1" dirty="0"/>
              <a:t>Readability</a:t>
            </a:r>
          </a:p>
          <a:p>
            <a:pPr marL="869950" lvl="1" indent="-285750">
              <a:buSzPts val="2000"/>
            </a:pPr>
            <a:r>
              <a:rPr lang="en-US" sz="1800" b="1" dirty="0"/>
              <a:t>Reusability </a:t>
            </a:r>
          </a:p>
          <a:p>
            <a:pPr marL="869950" lvl="1" indent="-285750">
              <a:buSzPts val="2000"/>
            </a:pPr>
            <a:r>
              <a:rPr lang="en-US" sz="1800" b="1" dirty="0"/>
              <a:t>Maintainability </a:t>
            </a:r>
          </a:p>
          <a:p>
            <a:pPr marL="869950" lvl="1" indent="-285750">
              <a:buSzPts val="2000"/>
            </a:pPr>
            <a:r>
              <a:rPr lang="en-US" sz="1800" b="1" dirty="0"/>
              <a:t>Teamwork </a:t>
            </a:r>
          </a:p>
          <a:p>
            <a:pPr marL="869950" lvl="1" indent="-285750">
              <a:buSzPts val="2000"/>
            </a:pPr>
            <a:r>
              <a:rPr lang="en-US" sz="1800" b="1" dirty="0"/>
              <a:t>Scalability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0F4F91-FAB7-0C84-8A6A-EF5A56661F21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90133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639AB2C-085F-6724-F0EC-204002DE7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60F6E915-346F-0648-5434-0DE850C1C3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1193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happens when we build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91E121BF-B148-C323-2C17-57532AC62F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7736" y="1560286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44500">
              <a:buSzPts val="2000"/>
            </a:pPr>
            <a:r>
              <a:rPr lang="en-IN" sz="2400" dirty="0">
                <a:solidFill>
                  <a:srgbClr val="FF0000"/>
                </a:solidFill>
              </a:rPr>
              <a:t>Preprocessing</a:t>
            </a:r>
            <a:r>
              <a:rPr lang="en-IN" sz="2400" dirty="0"/>
              <a:t> : All </a:t>
            </a:r>
            <a:r>
              <a:rPr lang="en-IN" sz="2400" dirty="0">
                <a:solidFill>
                  <a:srgbClr val="FF0000"/>
                </a:solidFill>
              </a:rPr>
              <a:t>.h</a:t>
            </a:r>
            <a:r>
              <a:rPr lang="en-IN" sz="2400" dirty="0"/>
              <a:t> get literally pasted to corresponding </a:t>
            </a:r>
            <a:r>
              <a:rPr lang="en-IN" sz="2400" dirty="0">
                <a:solidFill>
                  <a:srgbClr val="FF0000"/>
                </a:solidFill>
              </a:rPr>
              <a:t>.c</a:t>
            </a:r>
            <a:r>
              <a:rPr lang="en-IN" sz="2400" dirty="0"/>
              <a:t> files</a:t>
            </a:r>
          </a:p>
          <a:p>
            <a:pPr marL="444500">
              <a:buSzPts val="2000"/>
            </a:pPr>
            <a:r>
              <a:rPr lang="en-IN" sz="2400" dirty="0">
                <a:solidFill>
                  <a:srgbClr val="FF0000"/>
                </a:solidFill>
              </a:rPr>
              <a:t>Compilation</a:t>
            </a:r>
            <a:r>
              <a:rPr lang="en-IN" sz="2400" dirty="0"/>
              <a:t>: Each </a:t>
            </a:r>
            <a:r>
              <a:rPr lang="en-IN" sz="2400" dirty="0">
                <a:solidFill>
                  <a:srgbClr val="FF0000"/>
                </a:solidFill>
              </a:rPr>
              <a:t>.c</a:t>
            </a:r>
            <a:r>
              <a:rPr lang="en-IN" sz="2400" dirty="0"/>
              <a:t> to </a:t>
            </a:r>
            <a:r>
              <a:rPr lang="en-IN" sz="2400" dirty="0">
                <a:solidFill>
                  <a:srgbClr val="FF0000"/>
                </a:solidFill>
              </a:rPr>
              <a:t>.o </a:t>
            </a:r>
            <a:r>
              <a:rPr lang="en-IN" sz="2400" dirty="0"/>
              <a:t>file.</a:t>
            </a:r>
          </a:p>
          <a:p>
            <a:pPr marL="444500">
              <a:buSzPts val="2000"/>
            </a:pPr>
            <a:r>
              <a:rPr lang="en-IN" sz="2400" dirty="0">
                <a:solidFill>
                  <a:srgbClr val="FF0000"/>
                </a:solidFill>
              </a:rPr>
              <a:t>Linking </a:t>
            </a:r>
            <a:r>
              <a:rPr lang="en-IN" sz="2400" dirty="0"/>
              <a:t>: linker takes all </a:t>
            </a:r>
            <a:r>
              <a:rPr lang="en-IN" sz="2400" dirty="0">
                <a:solidFill>
                  <a:srgbClr val="FF0000"/>
                </a:solidFill>
              </a:rPr>
              <a:t>.o</a:t>
            </a:r>
            <a:r>
              <a:rPr lang="en-IN" sz="2400" dirty="0"/>
              <a:t> files and stitches them together into one single binary </a:t>
            </a:r>
            <a:r>
              <a:rPr lang="en-IN" sz="2400" dirty="0">
                <a:solidFill>
                  <a:srgbClr val="FF0000"/>
                </a:solidFill>
              </a:rPr>
              <a:t>(.elf/.hex)</a:t>
            </a:r>
          </a:p>
          <a:p>
            <a:pPr marL="101600" indent="0">
              <a:buSzPts val="2000"/>
              <a:buNone/>
            </a:pPr>
            <a:endParaRPr lang="en-US" sz="22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780731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CED2995-AF43-D54E-50A0-70E983C08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F5C408E8-BC47-B2C2-7462-C129AFFB4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84993" y="2263973"/>
            <a:ext cx="5982111" cy="9916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Lets WRITE a modular code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B1A449-075A-9A93-A335-B7E65C06F204}"/>
              </a:ext>
            </a:extLst>
          </p:cNvPr>
          <p:cNvSpPr txBox="1"/>
          <p:nvPr/>
        </p:nvSpPr>
        <p:spPr>
          <a:xfrm>
            <a:off x="4379174" y="18142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24C819-FCEE-01C6-9758-98704A4CE779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17281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2510200" y="1939350"/>
            <a:ext cx="63546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E2B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r>
              <a:rPr lang="en" sz="3200" b="1">
                <a:solidFill>
                  <a:srgbClr val="B0D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200" b="1">
              <a:solidFill>
                <a:srgbClr val="B0DA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F0F0F0"/>
      </a:dk1>
      <a:lt1>
        <a:srgbClr val="121212"/>
      </a:lt1>
      <a:dk2>
        <a:srgbClr val="808080"/>
      </a:dk2>
      <a:lt2>
        <a:srgbClr val="4A4A4A"/>
      </a:lt2>
      <a:accent1>
        <a:srgbClr val="B0DAFF"/>
      </a:accent1>
      <a:accent2>
        <a:srgbClr val="33997D"/>
      </a:accent2>
      <a:accent3>
        <a:srgbClr val="F87B7C"/>
      </a:accent3>
      <a:accent4>
        <a:srgbClr val="9965AD"/>
      </a:accent4>
      <a:accent5>
        <a:srgbClr val="FFF2BC"/>
      </a:accent5>
      <a:accent6>
        <a:srgbClr val="FFE2B0"/>
      </a:accent6>
      <a:hlink>
        <a:srgbClr val="B0D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</TotalTime>
  <Words>143</Words>
  <Application>Microsoft Office PowerPoint</Application>
  <PresentationFormat>On-screen Show (16:9)</PresentationFormat>
  <Paragraphs>29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Anek Malayalam SemiBold</vt:lpstr>
      <vt:lpstr>Helvetica Neue</vt:lpstr>
      <vt:lpstr>Anek Malayalam</vt:lpstr>
      <vt:lpstr>Simple Light</vt:lpstr>
      <vt:lpstr>MODULAR PROGRAMMING</vt:lpstr>
      <vt:lpstr>Let’s be more professional- Modularity </vt:lpstr>
      <vt:lpstr>Modularity </vt:lpstr>
      <vt:lpstr>What happens when we build </vt:lpstr>
      <vt:lpstr>Lets WRITE a modular code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Sreejith Rajan</dc:creator>
  <cp:lastModifiedBy>Sreejith Rajan</cp:lastModifiedBy>
  <cp:revision>30</cp:revision>
  <dcterms:modified xsi:type="dcterms:W3CDTF">2025-12-02T14:00:19Z</dcterms:modified>
</cp:coreProperties>
</file>