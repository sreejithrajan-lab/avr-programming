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15"/>
  </p:notesMasterIdLst>
  <p:sldIdLst>
    <p:sldId id="256" r:id="rId2"/>
    <p:sldId id="258" r:id="rId3"/>
    <p:sldId id="285" r:id="rId4"/>
    <p:sldId id="282" r:id="rId5"/>
    <p:sldId id="267" r:id="rId6"/>
    <p:sldId id="286" r:id="rId7"/>
    <p:sldId id="287" r:id="rId8"/>
    <p:sldId id="283" r:id="rId9"/>
    <p:sldId id="288" r:id="rId10"/>
    <p:sldId id="289" r:id="rId11"/>
    <p:sldId id="274" r:id="rId12"/>
    <p:sldId id="290" r:id="rId13"/>
    <p:sldId id="264" r:id="rId14"/>
  </p:sldIdLst>
  <p:sldSz cx="9144000" cy="5143500" type="screen16x9"/>
  <p:notesSz cx="6858000" cy="9144000"/>
  <p:embeddedFontLst>
    <p:embeddedFont>
      <p:font typeface="Anek Malayalam" panose="020B0604020202020204" charset="0"/>
      <p:regular r:id="rId16"/>
      <p:bold r:id="rId17"/>
    </p:embeddedFont>
    <p:embeddedFont>
      <p:font typeface="Anek Malayalam SemiBold" panose="020B0604020202020204" charset="0"/>
      <p:regular r:id="rId18"/>
      <p:bold r:id="rId19"/>
    </p:embeddedFont>
    <p:embeddedFont>
      <p:font typeface="Helvetica Neue" panose="020B060402020202020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eejith Rajan" userId="ec11bca0e4bee75f" providerId="LiveId" clId="{7B4F392D-EAB3-4CE7-903E-F84869825F47}"/>
    <pc:docChg chg="undo custSel addSld delSld modSld sldOrd">
      <pc:chgData name="Sreejith Rajan" userId="ec11bca0e4bee75f" providerId="LiveId" clId="{7B4F392D-EAB3-4CE7-903E-F84869825F47}" dt="2025-11-27T14:57:36.436" v="824" actId="1076"/>
      <pc:docMkLst>
        <pc:docMk/>
      </pc:docMkLst>
      <pc:sldChg chg="modSp mod">
        <pc:chgData name="Sreejith Rajan" userId="ec11bca0e4bee75f" providerId="LiveId" clId="{7B4F392D-EAB3-4CE7-903E-F84869825F47}" dt="2025-11-27T14:57:36.436" v="824" actId="1076"/>
        <pc:sldMkLst>
          <pc:docMk/>
          <pc:sldMk cId="1389626550" sldId="267"/>
        </pc:sldMkLst>
        <pc:picChg chg="mod">
          <ac:chgData name="Sreejith Rajan" userId="ec11bca0e4bee75f" providerId="LiveId" clId="{7B4F392D-EAB3-4CE7-903E-F84869825F47}" dt="2025-11-27T14:57:36.436" v="824" actId="1076"/>
          <ac:picMkLst>
            <pc:docMk/>
            <pc:sldMk cId="1389626550" sldId="267"/>
            <ac:picMk id="4" creationId="{C49C1DF3-C6D7-3FBE-C7BE-60CD0077F615}"/>
          </ac:picMkLst>
        </pc:picChg>
      </pc:sldChg>
      <pc:sldChg chg="delSp modSp mod">
        <pc:chgData name="Sreejith Rajan" userId="ec11bca0e4bee75f" providerId="LiveId" clId="{7B4F392D-EAB3-4CE7-903E-F84869825F47}" dt="2025-11-25T13:50:35.880" v="537" actId="1076"/>
        <pc:sldMkLst>
          <pc:docMk/>
          <pc:sldMk cId="2517281589" sldId="274"/>
        </pc:sldMkLst>
        <pc:spChg chg="mod">
          <ac:chgData name="Sreejith Rajan" userId="ec11bca0e4bee75f" providerId="LiveId" clId="{7B4F392D-EAB3-4CE7-903E-F84869825F47}" dt="2025-11-25T13:50:35.880" v="537" actId="1076"/>
          <ac:spMkLst>
            <pc:docMk/>
            <pc:sldMk cId="2517281589" sldId="274"/>
            <ac:spMk id="54" creationId="{F5C408E8-BC47-B2C2-7462-C129AFFB4F4F}"/>
          </ac:spMkLst>
        </pc:spChg>
      </pc:sldChg>
      <pc:sldChg chg="addSp delSp modSp add mod">
        <pc:chgData name="Sreejith Rajan" userId="ec11bca0e4bee75f" providerId="LiveId" clId="{7B4F392D-EAB3-4CE7-903E-F84869825F47}" dt="2025-11-25T15:36:41.492" v="822" actId="12"/>
        <pc:sldMkLst>
          <pc:docMk/>
          <pc:sldMk cId="1559068308" sldId="290"/>
        </pc:sldMkLst>
        <pc:spChg chg="mod">
          <ac:chgData name="Sreejith Rajan" userId="ec11bca0e4bee75f" providerId="LiveId" clId="{7B4F392D-EAB3-4CE7-903E-F84869825F47}" dt="2025-11-25T15:36:41.492" v="822" actId="12"/>
          <ac:spMkLst>
            <pc:docMk/>
            <pc:sldMk cId="1559068308" sldId="290"/>
            <ac:spMk id="54" creationId="{68629363-375B-DB57-5488-0DDA54605AC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2ff2b50d283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g2ff2b50d28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F83276EB-F4B2-D99E-34FD-B8BFA3D3110D}"/>
            </a:ext>
          </a:extLst>
        </p:cNvPr>
        <p:cNvGrpSpPr/>
        <p:nvPr/>
      </p:nvGrpSpPr>
      <p:grpSpPr>
        <a:xfrm>
          <a:off x="0" y="0"/>
          <a:ext cx="0" cy="0"/>
          <a:chOff x="0" y="0"/>
          <a:chExt cx="0" cy="0"/>
        </a:xfrm>
      </p:grpSpPr>
      <p:sp>
        <p:nvSpPr>
          <p:cNvPr id="43" name="Google Shape;43;g2ff2b50d283_0_13:notes">
            <a:extLst>
              <a:ext uri="{FF2B5EF4-FFF2-40B4-BE49-F238E27FC236}">
                <a16:creationId xmlns:a16="http://schemas.microsoft.com/office/drawing/2014/main" id="{800C32EA-A2AE-AC0A-696F-31B96CA369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g2ff2b50d283_0_13:notes">
            <a:extLst>
              <a:ext uri="{FF2B5EF4-FFF2-40B4-BE49-F238E27FC236}">
                <a16:creationId xmlns:a16="http://schemas.microsoft.com/office/drawing/2014/main" id="{E988F3D7-7EBF-EA1C-A6D6-C91C3C571C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2559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2EC7F45F-22FB-8B83-798F-03C0738C9768}"/>
            </a:ext>
          </a:extLst>
        </p:cNvPr>
        <p:cNvGrpSpPr/>
        <p:nvPr/>
      </p:nvGrpSpPr>
      <p:grpSpPr>
        <a:xfrm>
          <a:off x="0" y="0"/>
          <a:ext cx="0" cy="0"/>
          <a:chOff x="0" y="0"/>
          <a:chExt cx="0" cy="0"/>
        </a:xfrm>
      </p:grpSpPr>
      <p:sp>
        <p:nvSpPr>
          <p:cNvPr id="51" name="Google Shape;51;g2ff2b50d283_0_18:notes">
            <a:extLst>
              <a:ext uri="{FF2B5EF4-FFF2-40B4-BE49-F238E27FC236}">
                <a16:creationId xmlns:a16="http://schemas.microsoft.com/office/drawing/2014/main" id="{10A1F72C-DBCA-73D5-4319-A7FDC2A00A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ff2b50d283_0_18:notes">
            <a:extLst>
              <a:ext uri="{FF2B5EF4-FFF2-40B4-BE49-F238E27FC236}">
                <a16:creationId xmlns:a16="http://schemas.microsoft.com/office/drawing/2014/main" id="{E036135E-791A-84AF-0BEC-1D06AB018C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7273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DECA89B7-AA3F-FD7E-AB65-88B732AF4474}"/>
            </a:ext>
          </a:extLst>
        </p:cNvPr>
        <p:cNvGrpSpPr/>
        <p:nvPr/>
      </p:nvGrpSpPr>
      <p:grpSpPr>
        <a:xfrm>
          <a:off x="0" y="0"/>
          <a:ext cx="0" cy="0"/>
          <a:chOff x="0" y="0"/>
          <a:chExt cx="0" cy="0"/>
        </a:xfrm>
      </p:grpSpPr>
      <p:sp>
        <p:nvSpPr>
          <p:cNvPr id="51" name="Google Shape;51;g2ff2b50d283_0_18:notes">
            <a:extLst>
              <a:ext uri="{FF2B5EF4-FFF2-40B4-BE49-F238E27FC236}">
                <a16:creationId xmlns:a16="http://schemas.microsoft.com/office/drawing/2014/main" id="{F663E214-624F-6931-9819-CEFB7F7B2B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ff2b50d283_0_18:notes">
            <a:extLst>
              <a:ext uri="{FF2B5EF4-FFF2-40B4-BE49-F238E27FC236}">
                <a16:creationId xmlns:a16="http://schemas.microsoft.com/office/drawing/2014/main" id="{6D4AC08E-24E6-11C1-D605-416DEE4814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0206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6A32D3A3-1CF4-7D23-C449-E1F695748D98}"/>
            </a:ext>
          </a:extLst>
        </p:cNvPr>
        <p:cNvGrpSpPr/>
        <p:nvPr/>
      </p:nvGrpSpPr>
      <p:grpSpPr>
        <a:xfrm>
          <a:off x="0" y="0"/>
          <a:ext cx="0" cy="0"/>
          <a:chOff x="0" y="0"/>
          <a:chExt cx="0" cy="0"/>
        </a:xfrm>
      </p:grpSpPr>
      <p:sp>
        <p:nvSpPr>
          <p:cNvPr id="51" name="Google Shape;51;g2ff2b50d283_0_18:notes">
            <a:extLst>
              <a:ext uri="{FF2B5EF4-FFF2-40B4-BE49-F238E27FC236}">
                <a16:creationId xmlns:a16="http://schemas.microsoft.com/office/drawing/2014/main" id="{F2BB1A29-52B9-07E8-9D44-759F125B42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ff2b50d283_0_18:notes">
            <a:extLst>
              <a:ext uri="{FF2B5EF4-FFF2-40B4-BE49-F238E27FC236}">
                <a16:creationId xmlns:a16="http://schemas.microsoft.com/office/drawing/2014/main" id="{83AB9117-066C-017B-711E-81867D04F8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9070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33CC0674-90B6-EAEB-6338-ED422B199727}"/>
            </a:ext>
          </a:extLst>
        </p:cNvPr>
        <p:cNvGrpSpPr/>
        <p:nvPr/>
      </p:nvGrpSpPr>
      <p:grpSpPr>
        <a:xfrm>
          <a:off x="0" y="0"/>
          <a:ext cx="0" cy="0"/>
          <a:chOff x="0" y="0"/>
          <a:chExt cx="0" cy="0"/>
        </a:xfrm>
      </p:grpSpPr>
      <p:sp>
        <p:nvSpPr>
          <p:cNvPr id="51" name="Google Shape;51;g2ff2b50d283_0_18:notes">
            <a:extLst>
              <a:ext uri="{FF2B5EF4-FFF2-40B4-BE49-F238E27FC236}">
                <a16:creationId xmlns:a16="http://schemas.microsoft.com/office/drawing/2014/main" id="{355D79EB-42FF-85CA-8FFC-F2A42F043D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ff2b50d283_0_18:notes">
            <a:extLst>
              <a:ext uri="{FF2B5EF4-FFF2-40B4-BE49-F238E27FC236}">
                <a16:creationId xmlns:a16="http://schemas.microsoft.com/office/drawing/2014/main" id="{4340FE91-4FAE-F81E-4431-09BEF7A1AC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6629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88C6DD6E-578F-BEA3-9397-B01626D4E835}"/>
            </a:ext>
          </a:extLst>
        </p:cNvPr>
        <p:cNvGrpSpPr/>
        <p:nvPr/>
      </p:nvGrpSpPr>
      <p:grpSpPr>
        <a:xfrm>
          <a:off x="0" y="0"/>
          <a:ext cx="0" cy="0"/>
          <a:chOff x="0" y="0"/>
          <a:chExt cx="0" cy="0"/>
        </a:xfrm>
      </p:grpSpPr>
      <p:sp>
        <p:nvSpPr>
          <p:cNvPr id="51" name="Google Shape;51;g2ff2b50d283_0_18:notes">
            <a:extLst>
              <a:ext uri="{FF2B5EF4-FFF2-40B4-BE49-F238E27FC236}">
                <a16:creationId xmlns:a16="http://schemas.microsoft.com/office/drawing/2014/main" id="{22894E38-BF59-3A9C-A7F1-21D9EB6099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ff2b50d283_0_18:notes">
            <a:extLst>
              <a:ext uri="{FF2B5EF4-FFF2-40B4-BE49-F238E27FC236}">
                <a16:creationId xmlns:a16="http://schemas.microsoft.com/office/drawing/2014/main" id="{B7037B9E-054D-3BA3-9304-AFFDF812AD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3821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9D84A1A8-63B8-9AD3-676E-DF751B442625}"/>
            </a:ext>
          </a:extLst>
        </p:cNvPr>
        <p:cNvGrpSpPr/>
        <p:nvPr/>
      </p:nvGrpSpPr>
      <p:grpSpPr>
        <a:xfrm>
          <a:off x="0" y="0"/>
          <a:ext cx="0" cy="0"/>
          <a:chOff x="0" y="0"/>
          <a:chExt cx="0" cy="0"/>
        </a:xfrm>
      </p:grpSpPr>
      <p:sp>
        <p:nvSpPr>
          <p:cNvPr id="51" name="Google Shape;51;g2ff2b50d283_0_18:notes">
            <a:extLst>
              <a:ext uri="{FF2B5EF4-FFF2-40B4-BE49-F238E27FC236}">
                <a16:creationId xmlns:a16="http://schemas.microsoft.com/office/drawing/2014/main" id="{8253B482-39E9-C89D-BD99-D3106609FD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ff2b50d283_0_18:notes">
            <a:extLst>
              <a:ext uri="{FF2B5EF4-FFF2-40B4-BE49-F238E27FC236}">
                <a16:creationId xmlns:a16="http://schemas.microsoft.com/office/drawing/2014/main" id="{FB241DCC-CFBE-069A-C54E-993FF7E076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9648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F9C5D866-389F-DE51-7999-447C45FDFB45}"/>
            </a:ext>
          </a:extLst>
        </p:cNvPr>
        <p:cNvGrpSpPr/>
        <p:nvPr/>
      </p:nvGrpSpPr>
      <p:grpSpPr>
        <a:xfrm>
          <a:off x="0" y="0"/>
          <a:ext cx="0" cy="0"/>
          <a:chOff x="0" y="0"/>
          <a:chExt cx="0" cy="0"/>
        </a:xfrm>
      </p:grpSpPr>
      <p:sp>
        <p:nvSpPr>
          <p:cNvPr id="51" name="Google Shape;51;g2ff2b50d283_0_18:notes">
            <a:extLst>
              <a:ext uri="{FF2B5EF4-FFF2-40B4-BE49-F238E27FC236}">
                <a16:creationId xmlns:a16="http://schemas.microsoft.com/office/drawing/2014/main" id="{1F0AA798-9683-BF0B-C36E-67F0D5133C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ff2b50d283_0_18:notes">
            <a:extLst>
              <a:ext uri="{FF2B5EF4-FFF2-40B4-BE49-F238E27FC236}">
                <a16:creationId xmlns:a16="http://schemas.microsoft.com/office/drawing/2014/main" id="{BBB1B6BF-4101-252D-A261-5B612733F0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50862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E9252589-6268-B43D-1D63-1DD5393281A2}"/>
            </a:ext>
          </a:extLst>
        </p:cNvPr>
        <p:cNvGrpSpPr/>
        <p:nvPr/>
      </p:nvGrpSpPr>
      <p:grpSpPr>
        <a:xfrm>
          <a:off x="0" y="0"/>
          <a:ext cx="0" cy="0"/>
          <a:chOff x="0" y="0"/>
          <a:chExt cx="0" cy="0"/>
        </a:xfrm>
      </p:grpSpPr>
      <p:sp>
        <p:nvSpPr>
          <p:cNvPr id="51" name="Google Shape;51;g2ff2b50d283_0_18:notes">
            <a:extLst>
              <a:ext uri="{FF2B5EF4-FFF2-40B4-BE49-F238E27FC236}">
                <a16:creationId xmlns:a16="http://schemas.microsoft.com/office/drawing/2014/main" id="{9EE3877F-46F9-4127-2ACB-5A4A6CA64A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ff2b50d283_0_18:notes">
            <a:extLst>
              <a:ext uri="{FF2B5EF4-FFF2-40B4-BE49-F238E27FC236}">
                <a16:creationId xmlns:a16="http://schemas.microsoft.com/office/drawing/2014/main" id="{8BD85E11-0A7C-4F0C-7CBD-2BBF50288F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0468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1AA91EF1-F4F8-4BA5-6ED6-F854108116F7}"/>
            </a:ext>
          </a:extLst>
        </p:cNvPr>
        <p:cNvGrpSpPr/>
        <p:nvPr/>
      </p:nvGrpSpPr>
      <p:grpSpPr>
        <a:xfrm>
          <a:off x="0" y="0"/>
          <a:ext cx="0" cy="0"/>
          <a:chOff x="0" y="0"/>
          <a:chExt cx="0" cy="0"/>
        </a:xfrm>
      </p:grpSpPr>
      <p:sp>
        <p:nvSpPr>
          <p:cNvPr id="51" name="Google Shape;51;g2ff2b50d283_0_18:notes">
            <a:extLst>
              <a:ext uri="{FF2B5EF4-FFF2-40B4-BE49-F238E27FC236}">
                <a16:creationId xmlns:a16="http://schemas.microsoft.com/office/drawing/2014/main" id="{64A28E32-E2D5-323E-A102-D135EF20C9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ff2b50d283_0_18:notes">
            <a:extLst>
              <a:ext uri="{FF2B5EF4-FFF2-40B4-BE49-F238E27FC236}">
                <a16:creationId xmlns:a16="http://schemas.microsoft.com/office/drawing/2014/main" id="{BE4DA740-1EDA-D053-2F5B-A1161A48EE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9608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ff2b50d283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ff2b50d283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n Heading &amp; Faculty Nam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2784351" y="749150"/>
            <a:ext cx="59385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Font typeface="Anek Malayalam SemiBold"/>
              <a:buNone/>
              <a:defRPr sz="4000">
                <a:latin typeface="Anek Malayalam SemiBold"/>
                <a:ea typeface="Anek Malayalam SemiBold"/>
                <a:cs typeface="Anek Malayalam SemiBold"/>
                <a:sym typeface="Anek Malayalam Semi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ubTitle" idx="1"/>
          </p:nvPr>
        </p:nvSpPr>
        <p:spPr>
          <a:xfrm>
            <a:off x="2805801" y="2834125"/>
            <a:ext cx="5895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 name="Google Shape;17;p3"/>
          <p:cNvSpPr txBox="1">
            <a:spLocks noGrp="1"/>
          </p:cNvSpPr>
          <p:nvPr>
            <p:ph type="title"/>
          </p:nvPr>
        </p:nvSpPr>
        <p:spPr>
          <a:xfrm>
            <a:off x="2698250" y="367100"/>
            <a:ext cx="59055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600"/>
              <a:buFont typeface="Anek Malayalam"/>
              <a:buNone/>
              <a:defRPr sz="2600" b="1">
                <a:latin typeface="Anek Malayalam"/>
                <a:ea typeface="Anek Malayalam"/>
                <a:cs typeface="Anek Malayalam"/>
                <a:sym typeface="Anek Malayalam"/>
              </a:defRPr>
            </a:lvl1pPr>
            <a:lvl2pPr lvl="1">
              <a:spcBef>
                <a:spcPts val="0"/>
              </a:spcBef>
              <a:spcAft>
                <a:spcPts val="0"/>
              </a:spcAft>
              <a:buClr>
                <a:schemeClr val="dk1"/>
              </a:buClr>
              <a:buSzPts val="2600"/>
              <a:buNone/>
              <a:defRPr sz="2600">
                <a:solidFill>
                  <a:schemeClr val="dk1"/>
                </a:solidFill>
              </a:defRPr>
            </a:lvl2pPr>
            <a:lvl3pPr lvl="2">
              <a:spcBef>
                <a:spcPts val="0"/>
              </a:spcBef>
              <a:spcAft>
                <a:spcPts val="0"/>
              </a:spcAft>
              <a:buClr>
                <a:schemeClr val="dk1"/>
              </a:buClr>
              <a:buSzPts val="2600"/>
              <a:buNone/>
              <a:defRPr sz="2600">
                <a:solidFill>
                  <a:schemeClr val="dk1"/>
                </a:solidFill>
              </a:defRPr>
            </a:lvl3pPr>
            <a:lvl4pPr lvl="3">
              <a:spcBef>
                <a:spcPts val="0"/>
              </a:spcBef>
              <a:spcAft>
                <a:spcPts val="0"/>
              </a:spcAft>
              <a:buClr>
                <a:schemeClr val="dk1"/>
              </a:buClr>
              <a:buSzPts val="2600"/>
              <a:buNone/>
              <a:defRPr sz="2600">
                <a:solidFill>
                  <a:schemeClr val="dk1"/>
                </a:solidFill>
              </a:defRPr>
            </a:lvl4pPr>
            <a:lvl5pPr lvl="4">
              <a:spcBef>
                <a:spcPts val="0"/>
              </a:spcBef>
              <a:spcAft>
                <a:spcPts val="0"/>
              </a:spcAft>
              <a:buClr>
                <a:schemeClr val="dk1"/>
              </a:buClr>
              <a:buSzPts val="2600"/>
              <a:buNone/>
              <a:defRPr sz="2600">
                <a:solidFill>
                  <a:schemeClr val="dk1"/>
                </a:solidFill>
              </a:defRPr>
            </a:lvl5pPr>
            <a:lvl6pPr lvl="5">
              <a:spcBef>
                <a:spcPts val="0"/>
              </a:spcBef>
              <a:spcAft>
                <a:spcPts val="0"/>
              </a:spcAft>
              <a:buClr>
                <a:schemeClr val="dk1"/>
              </a:buClr>
              <a:buSzPts val="2600"/>
              <a:buNone/>
              <a:defRPr sz="2600">
                <a:solidFill>
                  <a:schemeClr val="dk1"/>
                </a:solidFill>
              </a:defRPr>
            </a:lvl6pPr>
            <a:lvl7pPr lvl="6">
              <a:spcBef>
                <a:spcPts val="0"/>
              </a:spcBef>
              <a:spcAft>
                <a:spcPts val="0"/>
              </a:spcAft>
              <a:buClr>
                <a:schemeClr val="dk1"/>
              </a:buClr>
              <a:buSzPts val="2600"/>
              <a:buNone/>
              <a:defRPr sz="2600">
                <a:solidFill>
                  <a:schemeClr val="dk1"/>
                </a:solidFill>
              </a:defRPr>
            </a:lvl7pPr>
            <a:lvl8pPr lvl="7">
              <a:spcBef>
                <a:spcPts val="0"/>
              </a:spcBef>
              <a:spcAft>
                <a:spcPts val="0"/>
              </a:spcAft>
              <a:buClr>
                <a:schemeClr val="dk1"/>
              </a:buClr>
              <a:buSzPts val="2600"/>
              <a:buNone/>
              <a:defRPr sz="2600">
                <a:solidFill>
                  <a:schemeClr val="dk1"/>
                </a:solidFill>
              </a:defRPr>
            </a:lvl8pPr>
            <a:lvl9pPr lvl="8">
              <a:spcBef>
                <a:spcPts val="0"/>
              </a:spcBef>
              <a:spcAft>
                <a:spcPts val="0"/>
              </a:spcAft>
              <a:buClr>
                <a:schemeClr val="dk1"/>
              </a:buClr>
              <a:buSzPts val="2600"/>
              <a:buNone/>
              <a:defRPr sz="2600">
                <a:solidFill>
                  <a:schemeClr val="dk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5"/>
          <p:cNvSpPr txBox="1">
            <a:spLocks noGrp="1"/>
          </p:cNvSpPr>
          <p:nvPr>
            <p:ph type="body" idx="1"/>
          </p:nvPr>
        </p:nvSpPr>
        <p:spPr>
          <a:xfrm>
            <a:off x="2698250" y="1152475"/>
            <a:ext cx="5905500" cy="24618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a:endParaRPr/>
          </a:p>
        </p:txBody>
      </p:sp>
      <p:sp>
        <p:nvSpPr>
          <p:cNvPr id="22" name="Google Shape;2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3" name="Google Shape;23;p5"/>
          <p:cNvSpPr txBox="1">
            <a:spLocks noGrp="1"/>
          </p:cNvSpPr>
          <p:nvPr>
            <p:ph type="title"/>
          </p:nvPr>
        </p:nvSpPr>
        <p:spPr>
          <a:xfrm>
            <a:off x="2698250" y="367100"/>
            <a:ext cx="59055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600"/>
              <a:buFont typeface="Anek Malayalam"/>
              <a:buNone/>
              <a:defRPr sz="2600" b="1">
                <a:latin typeface="Anek Malayalam"/>
                <a:ea typeface="Anek Malayalam"/>
                <a:cs typeface="Anek Malayalam"/>
                <a:sym typeface="Anek Malayalam"/>
              </a:defRPr>
            </a:lvl1pPr>
            <a:lvl2pPr lvl="1">
              <a:spcBef>
                <a:spcPts val="0"/>
              </a:spcBef>
              <a:spcAft>
                <a:spcPts val="0"/>
              </a:spcAft>
              <a:buClr>
                <a:schemeClr val="dk1"/>
              </a:buClr>
              <a:buSzPts val="2600"/>
              <a:buNone/>
              <a:defRPr sz="2600">
                <a:solidFill>
                  <a:schemeClr val="dk1"/>
                </a:solidFill>
              </a:defRPr>
            </a:lvl2pPr>
            <a:lvl3pPr lvl="2">
              <a:spcBef>
                <a:spcPts val="0"/>
              </a:spcBef>
              <a:spcAft>
                <a:spcPts val="0"/>
              </a:spcAft>
              <a:buClr>
                <a:schemeClr val="dk1"/>
              </a:buClr>
              <a:buSzPts val="2600"/>
              <a:buNone/>
              <a:defRPr sz="2600">
                <a:solidFill>
                  <a:schemeClr val="dk1"/>
                </a:solidFill>
              </a:defRPr>
            </a:lvl3pPr>
            <a:lvl4pPr lvl="3">
              <a:spcBef>
                <a:spcPts val="0"/>
              </a:spcBef>
              <a:spcAft>
                <a:spcPts val="0"/>
              </a:spcAft>
              <a:buClr>
                <a:schemeClr val="dk1"/>
              </a:buClr>
              <a:buSzPts val="2600"/>
              <a:buNone/>
              <a:defRPr sz="2600">
                <a:solidFill>
                  <a:schemeClr val="dk1"/>
                </a:solidFill>
              </a:defRPr>
            </a:lvl4pPr>
            <a:lvl5pPr lvl="4">
              <a:spcBef>
                <a:spcPts val="0"/>
              </a:spcBef>
              <a:spcAft>
                <a:spcPts val="0"/>
              </a:spcAft>
              <a:buClr>
                <a:schemeClr val="dk1"/>
              </a:buClr>
              <a:buSzPts val="2600"/>
              <a:buNone/>
              <a:defRPr sz="2600">
                <a:solidFill>
                  <a:schemeClr val="dk1"/>
                </a:solidFill>
              </a:defRPr>
            </a:lvl5pPr>
            <a:lvl6pPr lvl="5">
              <a:spcBef>
                <a:spcPts val="0"/>
              </a:spcBef>
              <a:spcAft>
                <a:spcPts val="0"/>
              </a:spcAft>
              <a:buClr>
                <a:schemeClr val="dk1"/>
              </a:buClr>
              <a:buSzPts val="2600"/>
              <a:buNone/>
              <a:defRPr sz="2600">
                <a:solidFill>
                  <a:schemeClr val="dk1"/>
                </a:solidFill>
              </a:defRPr>
            </a:lvl6pPr>
            <a:lvl7pPr lvl="6">
              <a:spcBef>
                <a:spcPts val="0"/>
              </a:spcBef>
              <a:spcAft>
                <a:spcPts val="0"/>
              </a:spcAft>
              <a:buClr>
                <a:schemeClr val="dk1"/>
              </a:buClr>
              <a:buSzPts val="2600"/>
              <a:buNone/>
              <a:defRPr sz="2600">
                <a:solidFill>
                  <a:schemeClr val="dk1"/>
                </a:solidFill>
              </a:defRPr>
            </a:lvl7pPr>
            <a:lvl8pPr lvl="7">
              <a:spcBef>
                <a:spcPts val="0"/>
              </a:spcBef>
              <a:spcAft>
                <a:spcPts val="0"/>
              </a:spcAft>
              <a:buClr>
                <a:schemeClr val="dk1"/>
              </a:buClr>
              <a:buSzPts val="2600"/>
              <a:buNone/>
              <a:defRPr sz="2600">
                <a:solidFill>
                  <a:schemeClr val="dk1"/>
                </a:solidFill>
              </a:defRPr>
            </a:lvl8pPr>
            <a:lvl9pPr lvl="8">
              <a:spcBef>
                <a:spcPts val="0"/>
              </a:spcBef>
              <a:spcAft>
                <a:spcPts val="0"/>
              </a:spcAft>
              <a:buClr>
                <a:schemeClr val="dk1"/>
              </a:buClr>
              <a:buSzPts val="2600"/>
              <a:buNone/>
              <a:defRPr sz="2600">
                <a:solidFill>
                  <a:schemeClr val="dk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2731850" y="2066275"/>
            <a:ext cx="60243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endParaRPr/>
          </a:p>
        </p:txBody>
      </p:sp>
      <p:sp>
        <p:nvSpPr>
          <p:cNvPr id="26" name="Google Shape;2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7">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98250" y="367100"/>
            <a:ext cx="59055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Anek Malayalam"/>
              <a:buNone/>
              <a:defRPr sz="2800" b="1">
                <a:solidFill>
                  <a:schemeClr val="accent1"/>
                </a:solidFill>
                <a:latin typeface="Anek Malayalam"/>
                <a:ea typeface="Anek Malayalam"/>
                <a:cs typeface="Anek Malayalam"/>
                <a:sym typeface="Anek Malayalam"/>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98250" y="1074550"/>
            <a:ext cx="59055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Anek Malayalam"/>
              <a:buChar char="●"/>
              <a:defRPr sz="1800">
                <a:solidFill>
                  <a:schemeClr val="dk1"/>
                </a:solidFill>
                <a:latin typeface="Anek Malayalam"/>
                <a:ea typeface="Anek Malayalam"/>
                <a:cs typeface="Anek Malayalam"/>
                <a:sym typeface="Anek Malayalam"/>
              </a:defRPr>
            </a:lvl1pPr>
            <a:lvl2pPr marL="914400" lvl="1" indent="-317500">
              <a:lnSpc>
                <a:spcPct val="115000"/>
              </a:lnSpc>
              <a:spcBef>
                <a:spcPts val="0"/>
              </a:spcBef>
              <a:spcAft>
                <a:spcPts val="0"/>
              </a:spcAft>
              <a:buClr>
                <a:schemeClr val="dk1"/>
              </a:buClr>
              <a:buSzPts val="1400"/>
              <a:buFont typeface="Anek Malayalam"/>
              <a:buChar char="○"/>
              <a:defRPr>
                <a:solidFill>
                  <a:schemeClr val="dk1"/>
                </a:solidFill>
                <a:latin typeface="Anek Malayalam"/>
                <a:ea typeface="Anek Malayalam"/>
                <a:cs typeface="Anek Malayalam"/>
                <a:sym typeface="Anek Malayalam"/>
              </a:defRPr>
            </a:lvl2pPr>
            <a:lvl3pPr marL="1371600" lvl="2" indent="-317500">
              <a:lnSpc>
                <a:spcPct val="115000"/>
              </a:lnSpc>
              <a:spcBef>
                <a:spcPts val="0"/>
              </a:spcBef>
              <a:spcAft>
                <a:spcPts val="0"/>
              </a:spcAft>
              <a:buClr>
                <a:schemeClr val="dk1"/>
              </a:buClr>
              <a:buSzPts val="1400"/>
              <a:buFont typeface="Anek Malayalam"/>
              <a:buChar char="■"/>
              <a:defRPr>
                <a:solidFill>
                  <a:schemeClr val="dk1"/>
                </a:solidFill>
                <a:latin typeface="Anek Malayalam"/>
                <a:ea typeface="Anek Malayalam"/>
                <a:cs typeface="Anek Malayalam"/>
                <a:sym typeface="Anek Malayalam"/>
              </a:defRPr>
            </a:lvl3pPr>
            <a:lvl4pPr marL="1828800" lvl="3" indent="-317500">
              <a:lnSpc>
                <a:spcPct val="115000"/>
              </a:lnSpc>
              <a:spcBef>
                <a:spcPts val="0"/>
              </a:spcBef>
              <a:spcAft>
                <a:spcPts val="0"/>
              </a:spcAft>
              <a:buClr>
                <a:schemeClr val="dk1"/>
              </a:buClr>
              <a:buSzPts val="1400"/>
              <a:buFont typeface="Anek Malayalam"/>
              <a:buChar char="●"/>
              <a:defRPr>
                <a:solidFill>
                  <a:schemeClr val="dk1"/>
                </a:solidFill>
                <a:latin typeface="Anek Malayalam"/>
                <a:ea typeface="Anek Malayalam"/>
                <a:cs typeface="Anek Malayalam"/>
                <a:sym typeface="Anek Malayalam"/>
              </a:defRPr>
            </a:lvl4pPr>
            <a:lvl5pPr marL="2286000" lvl="4" indent="-317500">
              <a:lnSpc>
                <a:spcPct val="115000"/>
              </a:lnSpc>
              <a:spcBef>
                <a:spcPts val="0"/>
              </a:spcBef>
              <a:spcAft>
                <a:spcPts val="0"/>
              </a:spcAft>
              <a:buClr>
                <a:schemeClr val="dk1"/>
              </a:buClr>
              <a:buSzPts val="1400"/>
              <a:buFont typeface="Anek Malayalam"/>
              <a:buChar char="○"/>
              <a:defRPr>
                <a:solidFill>
                  <a:schemeClr val="dk1"/>
                </a:solidFill>
                <a:latin typeface="Anek Malayalam"/>
                <a:ea typeface="Anek Malayalam"/>
                <a:cs typeface="Anek Malayalam"/>
                <a:sym typeface="Anek Malayalam"/>
              </a:defRPr>
            </a:lvl5pPr>
            <a:lvl6pPr marL="2743200" lvl="5" indent="-317500">
              <a:lnSpc>
                <a:spcPct val="115000"/>
              </a:lnSpc>
              <a:spcBef>
                <a:spcPts val="0"/>
              </a:spcBef>
              <a:spcAft>
                <a:spcPts val="0"/>
              </a:spcAft>
              <a:buClr>
                <a:schemeClr val="dk1"/>
              </a:buClr>
              <a:buSzPts val="1400"/>
              <a:buFont typeface="Anek Malayalam"/>
              <a:buChar char="■"/>
              <a:defRPr>
                <a:solidFill>
                  <a:schemeClr val="dk1"/>
                </a:solidFill>
                <a:latin typeface="Anek Malayalam"/>
                <a:ea typeface="Anek Malayalam"/>
                <a:cs typeface="Anek Malayalam"/>
                <a:sym typeface="Anek Malayalam"/>
              </a:defRPr>
            </a:lvl6pPr>
            <a:lvl7pPr marL="3200400" lvl="6" indent="-317500">
              <a:lnSpc>
                <a:spcPct val="115000"/>
              </a:lnSpc>
              <a:spcBef>
                <a:spcPts val="0"/>
              </a:spcBef>
              <a:spcAft>
                <a:spcPts val="0"/>
              </a:spcAft>
              <a:buClr>
                <a:schemeClr val="dk1"/>
              </a:buClr>
              <a:buSzPts val="1400"/>
              <a:buFont typeface="Anek Malayalam"/>
              <a:buChar char="●"/>
              <a:defRPr>
                <a:solidFill>
                  <a:schemeClr val="dk1"/>
                </a:solidFill>
                <a:latin typeface="Anek Malayalam"/>
                <a:ea typeface="Anek Malayalam"/>
                <a:cs typeface="Anek Malayalam"/>
                <a:sym typeface="Anek Malayalam"/>
              </a:defRPr>
            </a:lvl7pPr>
            <a:lvl8pPr marL="3657600" lvl="7" indent="-317500">
              <a:lnSpc>
                <a:spcPct val="115000"/>
              </a:lnSpc>
              <a:spcBef>
                <a:spcPts val="0"/>
              </a:spcBef>
              <a:spcAft>
                <a:spcPts val="0"/>
              </a:spcAft>
              <a:buClr>
                <a:schemeClr val="dk1"/>
              </a:buClr>
              <a:buSzPts val="1400"/>
              <a:buFont typeface="Anek Malayalam"/>
              <a:buChar char="○"/>
              <a:defRPr>
                <a:solidFill>
                  <a:schemeClr val="dk1"/>
                </a:solidFill>
                <a:latin typeface="Anek Malayalam"/>
                <a:ea typeface="Anek Malayalam"/>
                <a:cs typeface="Anek Malayalam"/>
                <a:sym typeface="Anek Malayalam"/>
              </a:defRPr>
            </a:lvl8pPr>
            <a:lvl9pPr marL="4114800" lvl="8" indent="-317500">
              <a:lnSpc>
                <a:spcPct val="115000"/>
              </a:lnSpc>
              <a:spcBef>
                <a:spcPts val="0"/>
              </a:spcBef>
              <a:spcAft>
                <a:spcPts val="0"/>
              </a:spcAft>
              <a:buClr>
                <a:schemeClr val="dk1"/>
              </a:buClr>
              <a:buSzPts val="1400"/>
              <a:buFont typeface="Anek Malayalam"/>
              <a:buChar char="■"/>
              <a:defRPr>
                <a:solidFill>
                  <a:schemeClr val="dk1"/>
                </a:solidFill>
                <a:latin typeface="Anek Malayalam"/>
                <a:ea typeface="Anek Malayalam"/>
                <a:cs typeface="Anek Malayalam"/>
                <a:sym typeface="Anek Malayalam"/>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p:nvPr/>
        </p:nvSpPr>
        <p:spPr>
          <a:xfrm>
            <a:off x="0" y="0"/>
            <a:ext cx="2286000" cy="5139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nek Malayalam"/>
              <a:ea typeface="Anek Malayalam"/>
              <a:cs typeface="Anek Malayalam"/>
              <a:sym typeface="Anek Malayalam"/>
            </a:endParaRPr>
          </a:p>
        </p:txBody>
      </p:sp>
      <p:pic>
        <p:nvPicPr>
          <p:cNvPr id="10" name="Google Shape;10;p1"/>
          <p:cNvPicPr preferRelativeResize="0"/>
          <p:nvPr/>
        </p:nvPicPr>
        <p:blipFill rotWithShape="1">
          <a:blip r:embed="rId8">
            <a:alphaModFix/>
          </a:blip>
          <a:srcRect l="3279" r="3288"/>
          <a:stretch/>
        </p:blipFill>
        <p:spPr>
          <a:xfrm>
            <a:off x="601275" y="338099"/>
            <a:ext cx="1083450" cy="4551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8"/>
          <p:cNvSpPr txBox="1">
            <a:spLocks noGrp="1"/>
          </p:cNvSpPr>
          <p:nvPr>
            <p:ph type="ctrTitle"/>
          </p:nvPr>
        </p:nvSpPr>
        <p:spPr>
          <a:xfrm>
            <a:off x="2784351" y="749150"/>
            <a:ext cx="59385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dirty="0"/>
              <a:t>AVR Timer 0 Programming</a:t>
            </a:r>
            <a:endParaRPr dirty="0"/>
          </a:p>
        </p:txBody>
      </p:sp>
      <p:sp>
        <p:nvSpPr>
          <p:cNvPr id="34" name="Google Shape;34;p8"/>
          <p:cNvSpPr txBox="1">
            <a:spLocks noGrp="1"/>
          </p:cNvSpPr>
          <p:nvPr>
            <p:ph type="subTitle" idx="1"/>
          </p:nvPr>
        </p:nvSpPr>
        <p:spPr>
          <a:xfrm>
            <a:off x="2805801" y="2834125"/>
            <a:ext cx="5895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Dr.Sreejith Rajan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2698250" y="367100"/>
            <a:ext cx="59055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0"/>
              </a:spcBef>
              <a:spcAft>
                <a:spcPts val="0"/>
              </a:spcAft>
              <a:buNone/>
            </a:pPr>
            <a:r>
              <a:rPr lang="en-IN" sz="3300" dirty="0">
                <a:solidFill>
                  <a:schemeClr val="dk1"/>
                </a:solidFill>
                <a:latin typeface="Helvetica Neue"/>
                <a:ea typeface="Helvetica Neue"/>
                <a:cs typeface="Helvetica Neue"/>
                <a:sym typeface="Helvetica Neue"/>
              </a:rPr>
              <a:t>AVR Timer 0</a:t>
            </a:r>
            <a:endParaRPr sz="3300" dirty="0">
              <a:solidFill>
                <a:schemeClr val="dk1"/>
              </a:solidFill>
              <a:latin typeface="Helvetica Neue"/>
              <a:ea typeface="Helvetica Neue"/>
              <a:cs typeface="Helvetica Neue"/>
              <a:sym typeface="Helvetica Neue"/>
            </a:endParaRPr>
          </a:p>
          <a:p>
            <a:pPr marL="0" lvl="0" indent="0" algn="l" rtl="0">
              <a:spcBef>
                <a:spcPts val="0"/>
              </a:spcBef>
              <a:spcAft>
                <a:spcPts val="0"/>
              </a:spcAft>
              <a:buNone/>
            </a:pPr>
            <a:endParaRPr dirty="0"/>
          </a:p>
        </p:txBody>
      </p:sp>
      <p:sp>
        <p:nvSpPr>
          <p:cNvPr id="47" name="Google Shape;47;p10"/>
          <p:cNvSpPr txBox="1"/>
          <p:nvPr/>
        </p:nvSpPr>
        <p:spPr>
          <a:xfrm>
            <a:off x="2926725" y="1057650"/>
            <a:ext cx="5274000" cy="30282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Font typeface="Helvetica Neue"/>
              <a:buChar char="●"/>
            </a:pPr>
            <a:r>
              <a:rPr lang="en-US" sz="2000" dirty="0">
                <a:solidFill>
                  <a:schemeClr val="dk1"/>
                </a:solidFill>
                <a:latin typeface="Helvetica Neue"/>
                <a:ea typeface="Helvetica Neue"/>
                <a:cs typeface="Helvetica Neue"/>
                <a:sym typeface="Helvetica Neue"/>
              </a:rPr>
              <a:t>8-bit timer/counter</a:t>
            </a:r>
          </a:p>
          <a:p>
            <a:pPr marL="457200" lvl="0" indent="-355600" algn="l" rtl="0">
              <a:lnSpc>
                <a:spcPct val="115000"/>
              </a:lnSpc>
              <a:spcBef>
                <a:spcPts val="0"/>
              </a:spcBef>
              <a:spcAft>
                <a:spcPts val="0"/>
              </a:spcAft>
              <a:buClr>
                <a:schemeClr val="dk1"/>
              </a:buClr>
              <a:buSzPts val="2000"/>
              <a:buFont typeface="Helvetica Neue"/>
              <a:buChar char="●"/>
            </a:pPr>
            <a:r>
              <a:rPr lang="en-US" sz="2000" dirty="0">
                <a:solidFill>
                  <a:schemeClr val="dk1"/>
                </a:solidFill>
                <a:latin typeface="Helvetica Neue"/>
                <a:ea typeface="Helvetica Neue"/>
                <a:cs typeface="Helvetica Neue"/>
                <a:sym typeface="Helvetica Neue"/>
              </a:rPr>
              <a:t>Normal mode and CTC Mode</a:t>
            </a:r>
          </a:p>
          <a:p>
            <a:pPr marL="457200" lvl="0" indent="-355600" algn="l" rtl="0">
              <a:lnSpc>
                <a:spcPct val="115000"/>
              </a:lnSpc>
              <a:spcBef>
                <a:spcPts val="0"/>
              </a:spcBef>
              <a:spcAft>
                <a:spcPts val="0"/>
              </a:spcAft>
              <a:buClr>
                <a:schemeClr val="dk1"/>
              </a:buClr>
              <a:buSzPts val="2000"/>
              <a:buFont typeface="Helvetica Neue"/>
              <a:buChar char="●"/>
            </a:pPr>
            <a:r>
              <a:rPr lang="en-US" sz="2000" dirty="0">
                <a:solidFill>
                  <a:schemeClr val="dk1"/>
                </a:solidFill>
                <a:latin typeface="Helvetica Neue"/>
                <a:ea typeface="Helvetica Neue"/>
                <a:cs typeface="Helvetica Neue"/>
                <a:sym typeface="Helvetica Neue"/>
              </a:rPr>
              <a:t>TCNT0,TCCR0,TIFR and OCR0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
          <a:extLst>
            <a:ext uri="{FF2B5EF4-FFF2-40B4-BE49-F238E27FC236}">
              <a16:creationId xmlns:a16="http://schemas.microsoft.com/office/drawing/2014/main" id="{B5F0FD63-E2C6-3346-9533-4F323DCCD5BC}"/>
            </a:ext>
          </a:extLst>
        </p:cNvPr>
        <p:cNvGrpSpPr/>
        <p:nvPr/>
      </p:nvGrpSpPr>
      <p:grpSpPr>
        <a:xfrm>
          <a:off x="0" y="0"/>
          <a:ext cx="0" cy="0"/>
          <a:chOff x="0" y="0"/>
          <a:chExt cx="0" cy="0"/>
        </a:xfrm>
      </p:grpSpPr>
      <p:sp>
        <p:nvSpPr>
          <p:cNvPr id="46" name="Google Shape;46;p10">
            <a:extLst>
              <a:ext uri="{FF2B5EF4-FFF2-40B4-BE49-F238E27FC236}">
                <a16:creationId xmlns:a16="http://schemas.microsoft.com/office/drawing/2014/main" id="{AD0C9125-2529-87A6-A821-EF0157BECEF2}"/>
              </a:ext>
            </a:extLst>
          </p:cNvPr>
          <p:cNvSpPr txBox="1">
            <a:spLocks noGrp="1"/>
          </p:cNvSpPr>
          <p:nvPr>
            <p:ph type="title"/>
          </p:nvPr>
        </p:nvSpPr>
        <p:spPr>
          <a:xfrm>
            <a:off x="2698250" y="367100"/>
            <a:ext cx="59055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0"/>
              </a:spcBef>
              <a:spcAft>
                <a:spcPts val="0"/>
              </a:spcAft>
              <a:buNone/>
            </a:pPr>
            <a:r>
              <a:rPr lang="en-IN" sz="3300" dirty="0">
                <a:solidFill>
                  <a:schemeClr val="dk1"/>
                </a:solidFill>
                <a:latin typeface="Helvetica Neue"/>
                <a:ea typeface="Helvetica Neue"/>
                <a:cs typeface="Helvetica Neue"/>
                <a:sym typeface="Helvetica Neue"/>
              </a:rPr>
              <a:t>Delay Function</a:t>
            </a:r>
            <a:endParaRPr sz="3300" dirty="0">
              <a:solidFill>
                <a:schemeClr val="dk1"/>
              </a:solidFill>
              <a:latin typeface="Helvetica Neue"/>
              <a:ea typeface="Helvetica Neue"/>
              <a:cs typeface="Helvetica Neue"/>
              <a:sym typeface="Helvetica Neue"/>
            </a:endParaRPr>
          </a:p>
          <a:p>
            <a:pPr marL="0" lvl="0" indent="0" algn="l" rtl="0">
              <a:spcBef>
                <a:spcPts val="0"/>
              </a:spcBef>
              <a:spcAft>
                <a:spcPts val="0"/>
              </a:spcAft>
              <a:buNone/>
            </a:pPr>
            <a:endParaRPr dirty="0"/>
          </a:p>
        </p:txBody>
      </p:sp>
      <p:sp>
        <p:nvSpPr>
          <p:cNvPr id="47" name="Google Shape;47;p10">
            <a:extLst>
              <a:ext uri="{FF2B5EF4-FFF2-40B4-BE49-F238E27FC236}">
                <a16:creationId xmlns:a16="http://schemas.microsoft.com/office/drawing/2014/main" id="{E974ABAE-A1E9-5AF4-4F05-9A6B3B72156A}"/>
              </a:ext>
            </a:extLst>
          </p:cNvPr>
          <p:cNvSpPr txBox="1"/>
          <p:nvPr/>
        </p:nvSpPr>
        <p:spPr>
          <a:xfrm>
            <a:off x="2926725" y="1057650"/>
            <a:ext cx="5274000" cy="3028200"/>
          </a:xfrm>
          <a:prstGeom prst="rect">
            <a:avLst/>
          </a:prstGeom>
          <a:noFill/>
          <a:ln>
            <a:noFill/>
          </a:ln>
        </p:spPr>
        <p:txBody>
          <a:bodyPr spcFirstLastPara="1" wrap="square" lIns="91425" tIns="91425" rIns="91425" bIns="91425" anchor="t" anchorCtr="0">
            <a:noAutofit/>
          </a:bodyPr>
          <a:lstStyle/>
          <a:p>
            <a:pPr marL="444500" lvl="0" indent="-342900" algn="l" rtl="0">
              <a:lnSpc>
                <a:spcPct val="115000"/>
              </a:lnSpc>
              <a:spcBef>
                <a:spcPts val="0"/>
              </a:spcBef>
              <a:spcAft>
                <a:spcPts val="0"/>
              </a:spcAft>
              <a:buClr>
                <a:schemeClr val="dk1"/>
              </a:buClr>
              <a:buSzPts val="2000"/>
              <a:buFont typeface="Arial" panose="020B0604020202020204" pitchFamily="34" charset="0"/>
              <a:buChar char="•"/>
            </a:pPr>
            <a:r>
              <a:rPr lang="en-US" sz="2000" dirty="0">
                <a:solidFill>
                  <a:schemeClr val="dk1"/>
                </a:solidFill>
                <a:latin typeface="Helvetica Neue"/>
                <a:ea typeface="Helvetica Neue"/>
                <a:cs typeface="Helvetica Neue"/>
                <a:sym typeface="Helvetica Neue"/>
              </a:rPr>
              <a:t>Let us create a delay function using TIMER 0 in Normal Mode </a:t>
            </a:r>
          </a:p>
        </p:txBody>
      </p:sp>
    </p:spTree>
    <p:extLst>
      <p:ext uri="{BB962C8B-B14F-4D97-AF65-F5344CB8AC3E}">
        <p14:creationId xmlns:p14="http://schemas.microsoft.com/office/powerpoint/2010/main" val="2771709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233E41AE-3E35-FB62-FF2F-404B2109A57E}"/>
            </a:ext>
          </a:extLst>
        </p:cNvPr>
        <p:cNvGrpSpPr/>
        <p:nvPr/>
      </p:nvGrpSpPr>
      <p:grpSpPr>
        <a:xfrm>
          <a:off x="0" y="0"/>
          <a:ext cx="0" cy="0"/>
          <a:chOff x="0" y="0"/>
          <a:chExt cx="0" cy="0"/>
        </a:xfrm>
      </p:grpSpPr>
      <p:sp>
        <p:nvSpPr>
          <p:cNvPr id="54" name="Google Shape;54;p11">
            <a:extLst>
              <a:ext uri="{FF2B5EF4-FFF2-40B4-BE49-F238E27FC236}">
                <a16:creationId xmlns:a16="http://schemas.microsoft.com/office/drawing/2014/main" id="{9283C473-62FC-4E7F-0537-4DF7FFC8FAA1}"/>
              </a:ext>
            </a:extLst>
          </p:cNvPr>
          <p:cNvSpPr txBox="1">
            <a:spLocks noGrp="1"/>
          </p:cNvSpPr>
          <p:nvPr>
            <p:ph type="title"/>
          </p:nvPr>
        </p:nvSpPr>
        <p:spPr>
          <a:xfrm>
            <a:off x="2698250" y="367100"/>
            <a:ext cx="59055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0"/>
              </a:spcBef>
              <a:spcAft>
                <a:spcPts val="0"/>
              </a:spcAft>
              <a:buNone/>
            </a:pPr>
            <a:r>
              <a:rPr lang="en-IN" sz="3300" dirty="0">
                <a:solidFill>
                  <a:schemeClr val="dk1"/>
                </a:solidFill>
                <a:latin typeface="Helvetica Neue"/>
                <a:ea typeface="Helvetica Neue"/>
                <a:cs typeface="Helvetica Neue"/>
                <a:sym typeface="Helvetica Neue"/>
              </a:rPr>
              <a:t>TCNT0</a:t>
            </a:r>
            <a:endParaRPr sz="3300" dirty="0">
              <a:solidFill>
                <a:schemeClr val="dk1"/>
              </a:solidFill>
              <a:latin typeface="Helvetica Neue"/>
              <a:ea typeface="Helvetica Neue"/>
              <a:cs typeface="Helvetica Neue"/>
              <a:sym typeface="Helvetica Neue"/>
            </a:endParaRPr>
          </a:p>
          <a:p>
            <a:pPr marL="0" lvl="0" indent="0" algn="l" rtl="0">
              <a:spcBef>
                <a:spcPts val="0"/>
              </a:spcBef>
              <a:spcAft>
                <a:spcPts val="0"/>
              </a:spcAft>
              <a:buNone/>
            </a:pPr>
            <a:endParaRPr dirty="0"/>
          </a:p>
        </p:txBody>
      </p:sp>
      <p:sp>
        <p:nvSpPr>
          <p:cNvPr id="55" name="Google Shape;55;p11">
            <a:extLst>
              <a:ext uri="{FF2B5EF4-FFF2-40B4-BE49-F238E27FC236}">
                <a16:creationId xmlns:a16="http://schemas.microsoft.com/office/drawing/2014/main" id="{CDBEBA7C-FD1D-B57A-1E7D-B25370E3E214}"/>
              </a:ext>
            </a:extLst>
          </p:cNvPr>
          <p:cNvSpPr txBox="1">
            <a:spLocks noGrp="1"/>
          </p:cNvSpPr>
          <p:nvPr>
            <p:ph type="body" idx="1"/>
          </p:nvPr>
        </p:nvSpPr>
        <p:spPr>
          <a:xfrm>
            <a:off x="2698250" y="1152474"/>
            <a:ext cx="5905500" cy="3123311"/>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Clr>
                <a:schemeClr val="dk1"/>
              </a:buClr>
              <a:buSzPts val="2000"/>
              <a:buFont typeface="Helvetica Neue"/>
              <a:buChar char="●"/>
            </a:pPr>
            <a:r>
              <a:rPr lang="en-IN" sz="2000" dirty="0">
                <a:solidFill>
                  <a:schemeClr val="accent3"/>
                </a:solidFill>
                <a:latin typeface="Helvetica Neue"/>
                <a:ea typeface="Helvetica Neue"/>
                <a:cs typeface="Helvetica Neue"/>
                <a:sym typeface="Helvetica Neue"/>
              </a:rPr>
              <a:t>Load TCNT0 with initial value</a:t>
            </a:r>
            <a:endParaRPr sz="2000" dirty="0">
              <a:solidFill>
                <a:schemeClr val="accent3"/>
              </a:solidFill>
              <a:latin typeface="Helvetica Neue"/>
              <a:ea typeface="Helvetica Neue"/>
              <a:cs typeface="Helvetica Neue"/>
              <a:sym typeface="Helvetica Neue"/>
            </a:endParaRPr>
          </a:p>
        </p:txBody>
      </p:sp>
      <p:pic>
        <p:nvPicPr>
          <p:cNvPr id="6" name="Picture 5">
            <a:extLst>
              <a:ext uri="{FF2B5EF4-FFF2-40B4-BE49-F238E27FC236}">
                <a16:creationId xmlns:a16="http://schemas.microsoft.com/office/drawing/2014/main" id="{475F8FF4-FAFB-9274-50A5-C9C0753EA1BE}"/>
              </a:ext>
            </a:extLst>
          </p:cNvPr>
          <p:cNvPicPr>
            <a:picLocks noChangeAspect="1"/>
          </p:cNvPicPr>
          <p:nvPr/>
        </p:nvPicPr>
        <p:blipFill>
          <a:blip r:embed="rId3"/>
          <a:stretch>
            <a:fillRect/>
          </a:stretch>
        </p:blipFill>
        <p:spPr>
          <a:xfrm>
            <a:off x="2817648" y="2517014"/>
            <a:ext cx="5666704" cy="676141"/>
          </a:xfrm>
          <a:prstGeom prst="rect">
            <a:avLst/>
          </a:prstGeom>
        </p:spPr>
      </p:pic>
    </p:spTree>
    <p:extLst>
      <p:ext uri="{BB962C8B-B14F-4D97-AF65-F5344CB8AC3E}">
        <p14:creationId xmlns:p14="http://schemas.microsoft.com/office/powerpoint/2010/main" val="682396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30740191-610A-1721-727A-563C7CD2EF2C}"/>
            </a:ext>
          </a:extLst>
        </p:cNvPr>
        <p:cNvGrpSpPr/>
        <p:nvPr/>
      </p:nvGrpSpPr>
      <p:grpSpPr>
        <a:xfrm>
          <a:off x="0" y="0"/>
          <a:ext cx="0" cy="0"/>
          <a:chOff x="0" y="0"/>
          <a:chExt cx="0" cy="0"/>
        </a:xfrm>
      </p:grpSpPr>
      <p:sp>
        <p:nvSpPr>
          <p:cNvPr id="54" name="Google Shape;54;p11">
            <a:extLst>
              <a:ext uri="{FF2B5EF4-FFF2-40B4-BE49-F238E27FC236}">
                <a16:creationId xmlns:a16="http://schemas.microsoft.com/office/drawing/2014/main" id="{505CB07C-62A7-0E4C-6035-03E85C6DF01E}"/>
              </a:ext>
            </a:extLst>
          </p:cNvPr>
          <p:cNvSpPr txBox="1">
            <a:spLocks noGrp="1"/>
          </p:cNvSpPr>
          <p:nvPr>
            <p:ph type="title"/>
          </p:nvPr>
        </p:nvSpPr>
        <p:spPr>
          <a:xfrm>
            <a:off x="2698250" y="367100"/>
            <a:ext cx="59055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0"/>
              </a:spcBef>
              <a:spcAft>
                <a:spcPts val="0"/>
              </a:spcAft>
              <a:buNone/>
            </a:pPr>
            <a:r>
              <a:rPr lang="en-IN" sz="3300" dirty="0">
                <a:solidFill>
                  <a:schemeClr val="dk1"/>
                </a:solidFill>
                <a:latin typeface="Helvetica Neue"/>
                <a:ea typeface="Helvetica Neue"/>
                <a:cs typeface="Helvetica Neue"/>
                <a:sym typeface="Helvetica Neue"/>
              </a:rPr>
              <a:t>TCCR0</a:t>
            </a:r>
            <a:endParaRPr sz="3300" dirty="0">
              <a:solidFill>
                <a:schemeClr val="dk1"/>
              </a:solidFill>
              <a:latin typeface="Helvetica Neue"/>
              <a:ea typeface="Helvetica Neue"/>
              <a:cs typeface="Helvetica Neue"/>
              <a:sym typeface="Helvetica Neue"/>
            </a:endParaRPr>
          </a:p>
          <a:p>
            <a:pPr marL="0" lvl="0" indent="0" algn="l" rtl="0">
              <a:spcBef>
                <a:spcPts val="0"/>
              </a:spcBef>
              <a:spcAft>
                <a:spcPts val="0"/>
              </a:spcAft>
              <a:buNone/>
            </a:pPr>
            <a:endParaRPr dirty="0"/>
          </a:p>
        </p:txBody>
      </p:sp>
      <p:cxnSp>
        <p:nvCxnSpPr>
          <p:cNvPr id="5" name="Straight Connector 4">
            <a:extLst>
              <a:ext uri="{FF2B5EF4-FFF2-40B4-BE49-F238E27FC236}">
                <a16:creationId xmlns:a16="http://schemas.microsoft.com/office/drawing/2014/main" id="{F95BBAB8-4EBF-2324-8EDD-04F2726E9CCA}"/>
              </a:ext>
            </a:extLst>
          </p:cNvPr>
          <p:cNvCxnSpPr/>
          <p:nvPr/>
        </p:nvCxnSpPr>
        <p:spPr>
          <a:xfrm>
            <a:off x="4959350" y="2946400"/>
            <a:ext cx="368300"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D3A9819-F112-E25B-7138-2A0760126BA6}"/>
              </a:ext>
            </a:extLst>
          </p:cNvPr>
          <p:cNvSpPr txBox="1"/>
          <p:nvPr/>
        </p:nvSpPr>
        <p:spPr>
          <a:xfrm>
            <a:off x="4379174" y="1814287"/>
            <a:ext cx="284052" cy="307777"/>
          </a:xfrm>
          <a:prstGeom prst="rect">
            <a:avLst/>
          </a:prstGeom>
          <a:noFill/>
        </p:spPr>
        <p:txBody>
          <a:bodyPr wrap="none" rtlCol="0">
            <a:spAutoFit/>
          </a:bodyPr>
          <a:lstStyle/>
          <a:p>
            <a:r>
              <a:rPr lang="en-IN" dirty="0"/>
              <a:t>0</a:t>
            </a:r>
          </a:p>
        </p:txBody>
      </p:sp>
      <p:sp>
        <p:nvSpPr>
          <p:cNvPr id="7" name="TextBox 6">
            <a:extLst>
              <a:ext uri="{FF2B5EF4-FFF2-40B4-BE49-F238E27FC236}">
                <a16:creationId xmlns:a16="http://schemas.microsoft.com/office/drawing/2014/main" id="{4C3FCA25-35B8-69A0-48BE-B820046C9609}"/>
              </a:ext>
            </a:extLst>
          </p:cNvPr>
          <p:cNvSpPr txBox="1"/>
          <p:nvPr/>
        </p:nvSpPr>
        <p:spPr>
          <a:xfrm>
            <a:off x="4379174" y="2263973"/>
            <a:ext cx="284052" cy="307777"/>
          </a:xfrm>
          <a:prstGeom prst="rect">
            <a:avLst/>
          </a:prstGeom>
          <a:noFill/>
        </p:spPr>
        <p:txBody>
          <a:bodyPr wrap="none" rtlCol="0">
            <a:spAutoFit/>
          </a:bodyPr>
          <a:lstStyle/>
          <a:p>
            <a:r>
              <a:rPr lang="en-IN" dirty="0"/>
              <a:t>1</a:t>
            </a:r>
          </a:p>
        </p:txBody>
      </p:sp>
      <p:pic>
        <p:nvPicPr>
          <p:cNvPr id="4" name="Picture 3">
            <a:extLst>
              <a:ext uri="{FF2B5EF4-FFF2-40B4-BE49-F238E27FC236}">
                <a16:creationId xmlns:a16="http://schemas.microsoft.com/office/drawing/2014/main" id="{C49C1DF3-C6D7-3FBE-C7BE-60CD0077F615}"/>
              </a:ext>
            </a:extLst>
          </p:cNvPr>
          <p:cNvPicPr>
            <a:picLocks noChangeAspect="1"/>
          </p:cNvPicPr>
          <p:nvPr/>
        </p:nvPicPr>
        <p:blipFill>
          <a:blip r:embed="rId3"/>
          <a:stretch>
            <a:fillRect/>
          </a:stretch>
        </p:blipFill>
        <p:spPr>
          <a:xfrm>
            <a:off x="2459586" y="1251731"/>
            <a:ext cx="3656269" cy="3123311"/>
          </a:xfrm>
          <a:prstGeom prst="rect">
            <a:avLst/>
          </a:prstGeom>
        </p:spPr>
      </p:pic>
      <p:sp>
        <p:nvSpPr>
          <p:cNvPr id="8" name="Rectangle 1">
            <a:extLst>
              <a:ext uri="{FF2B5EF4-FFF2-40B4-BE49-F238E27FC236}">
                <a16:creationId xmlns:a16="http://schemas.microsoft.com/office/drawing/2014/main" id="{6C9CC41F-9FD7-9D53-4AC5-97DFC8CE4F6C}"/>
              </a:ext>
            </a:extLst>
          </p:cNvPr>
          <p:cNvSpPr>
            <a:spLocks noGrp="1" noChangeArrowheads="1"/>
          </p:cNvSpPr>
          <p:nvPr>
            <p:ph type="body" idx="1"/>
          </p:nvPr>
        </p:nvSpPr>
        <p:spPr bwMode="auto">
          <a:xfrm>
            <a:off x="6259133" y="1665801"/>
            <a:ext cx="2801154"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0000"/>
                </a:solidFill>
                <a:effectLst/>
                <a:latin typeface="Arial" panose="020B0604020202020204" pitchFamily="34" charset="0"/>
              </a:rPr>
              <a:t>FOC</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Force </a:t>
            </a:r>
            <a:r>
              <a:rPr kumimoji="0" lang="en-US" altLang="en-US" sz="1600" b="1" i="0" u="none" strike="noStrike" cap="none" normalizeH="0" baseline="0" dirty="0">
                <a:ln>
                  <a:noFill/>
                </a:ln>
                <a:solidFill>
                  <a:schemeClr val="tx1"/>
                </a:solidFill>
                <a:effectLst/>
                <a:latin typeface="Arial" panose="020B0604020202020204" pitchFamily="34" charset="0"/>
              </a:rPr>
              <a:t>Output Compare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FF0000"/>
                </a:solidFill>
                <a:effectLst/>
                <a:latin typeface="Arial" panose="020B0604020202020204" pitchFamily="34" charset="0"/>
              </a:rPr>
              <a:t>COM</a:t>
            </a:r>
            <a:r>
              <a:rPr kumimoji="0" lang="en-US" altLang="en-US" sz="1600" b="0" i="0" u="none" strike="noStrike" cap="none" normalizeH="0" baseline="0" dirty="0">
                <a:ln>
                  <a:noFill/>
                </a:ln>
                <a:solidFill>
                  <a:schemeClr val="tx1"/>
                </a:solidFill>
                <a:effectLst/>
                <a:latin typeface="Arial" panose="020B0604020202020204" pitchFamily="34" charset="0"/>
              </a:rPr>
              <a:t> → </a:t>
            </a:r>
            <a:r>
              <a:rPr kumimoji="0" lang="en-US" altLang="en-US" sz="1600" b="1" i="0" u="none" strike="noStrike" cap="none" normalizeH="0" baseline="0" dirty="0">
                <a:ln>
                  <a:noFill/>
                </a:ln>
                <a:solidFill>
                  <a:schemeClr val="tx1"/>
                </a:solidFill>
                <a:effectLst/>
                <a:latin typeface="Arial" panose="020B0604020202020204" pitchFamily="34" charset="0"/>
              </a:rPr>
              <a:t>Compare Output Mode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FF0000"/>
                </a:solidFill>
                <a:effectLst/>
                <a:latin typeface="Arial" panose="020B0604020202020204" pitchFamily="34" charset="0"/>
              </a:rPr>
              <a:t>WGM</a:t>
            </a:r>
            <a:r>
              <a:rPr kumimoji="0" lang="en-US" altLang="en-US" sz="1600" b="0" i="0" u="none" strike="noStrike" cap="none" normalizeH="0" baseline="0" dirty="0">
                <a:ln>
                  <a:noFill/>
                </a:ln>
                <a:solidFill>
                  <a:schemeClr val="tx1"/>
                </a:solidFill>
                <a:effectLst/>
                <a:latin typeface="Arial" panose="020B0604020202020204" pitchFamily="34" charset="0"/>
              </a:rPr>
              <a:t> → </a:t>
            </a:r>
            <a:r>
              <a:rPr kumimoji="0" lang="en-US" altLang="en-US" sz="1600" b="1" i="0" u="none" strike="noStrike" cap="none" normalizeH="0" baseline="0" dirty="0">
                <a:ln>
                  <a:noFill/>
                </a:ln>
                <a:solidFill>
                  <a:schemeClr val="tx1"/>
                </a:solidFill>
                <a:effectLst/>
                <a:latin typeface="Arial" panose="020B0604020202020204" pitchFamily="34" charset="0"/>
              </a:rPr>
              <a:t>Waveform Generation Mode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FF0000"/>
                </a:solidFill>
                <a:effectLst/>
                <a:latin typeface="Arial" panose="020B0604020202020204" pitchFamily="34" charset="0"/>
              </a:rPr>
              <a:t>CS</a:t>
            </a:r>
            <a:r>
              <a:rPr kumimoji="0" lang="en-US" altLang="en-US" sz="1600" b="0" i="0" u="none" strike="noStrike" cap="none" normalizeH="0" baseline="0" dirty="0">
                <a:ln>
                  <a:noFill/>
                </a:ln>
                <a:solidFill>
                  <a:srgbClr val="FF0000"/>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Clock Select/</a:t>
            </a:r>
            <a:r>
              <a:rPr kumimoji="0" lang="en-US" altLang="en-US" sz="1600" b="1" i="0" u="none" strike="noStrike" cap="none" normalizeH="0" baseline="0" dirty="0" err="1">
                <a:ln>
                  <a:noFill/>
                </a:ln>
                <a:solidFill>
                  <a:schemeClr val="tx1"/>
                </a:solidFill>
                <a:effectLst/>
                <a:latin typeface="Arial" panose="020B0604020202020204" pitchFamily="34" charset="0"/>
              </a:rPr>
              <a:t>Presclar</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89626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305C09B6-9B3C-99DF-6A31-96FE467353AA}"/>
            </a:ext>
          </a:extLst>
        </p:cNvPr>
        <p:cNvGrpSpPr/>
        <p:nvPr/>
      </p:nvGrpSpPr>
      <p:grpSpPr>
        <a:xfrm>
          <a:off x="0" y="0"/>
          <a:ext cx="0" cy="0"/>
          <a:chOff x="0" y="0"/>
          <a:chExt cx="0" cy="0"/>
        </a:xfrm>
      </p:grpSpPr>
      <p:sp>
        <p:nvSpPr>
          <p:cNvPr id="54" name="Google Shape;54;p11">
            <a:extLst>
              <a:ext uri="{FF2B5EF4-FFF2-40B4-BE49-F238E27FC236}">
                <a16:creationId xmlns:a16="http://schemas.microsoft.com/office/drawing/2014/main" id="{7CF02AB0-3097-4201-BB91-6344C477C173}"/>
              </a:ext>
            </a:extLst>
          </p:cNvPr>
          <p:cNvSpPr txBox="1">
            <a:spLocks noGrp="1"/>
          </p:cNvSpPr>
          <p:nvPr>
            <p:ph type="title"/>
          </p:nvPr>
        </p:nvSpPr>
        <p:spPr>
          <a:xfrm>
            <a:off x="2698250" y="367100"/>
            <a:ext cx="59055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0"/>
              </a:spcBef>
              <a:spcAft>
                <a:spcPts val="0"/>
              </a:spcAft>
              <a:buNone/>
            </a:pPr>
            <a:r>
              <a:rPr lang="en-IN" sz="3300" dirty="0">
                <a:solidFill>
                  <a:schemeClr val="dk1"/>
                </a:solidFill>
                <a:latin typeface="Helvetica Neue"/>
                <a:ea typeface="Helvetica Neue"/>
                <a:cs typeface="Helvetica Neue"/>
                <a:sym typeface="Helvetica Neue"/>
              </a:rPr>
              <a:t>TCCR0A &amp;TCCR0B</a:t>
            </a:r>
            <a:endParaRPr sz="3300" dirty="0">
              <a:solidFill>
                <a:schemeClr val="dk1"/>
              </a:solidFill>
              <a:latin typeface="Helvetica Neue"/>
              <a:ea typeface="Helvetica Neue"/>
              <a:cs typeface="Helvetica Neue"/>
              <a:sym typeface="Helvetica Neue"/>
            </a:endParaRPr>
          </a:p>
          <a:p>
            <a:pPr marL="0" lvl="0" indent="0" algn="l" rtl="0">
              <a:spcBef>
                <a:spcPts val="0"/>
              </a:spcBef>
              <a:spcAft>
                <a:spcPts val="0"/>
              </a:spcAft>
              <a:buNone/>
            </a:pPr>
            <a:endParaRPr dirty="0"/>
          </a:p>
        </p:txBody>
      </p:sp>
      <p:sp>
        <p:nvSpPr>
          <p:cNvPr id="55" name="Google Shape;55;p11">
            <a:extLst>
              <a:ext uri="{FF2B5EF4-FFF2-40B4-BE49-F238E27FC236}">
                <a16:creationId xmlns:a16="http://schemas.microsoft.com/office/drawing/2014/main" id="{1E807AC9-7841-0A74-4868-AF16F9E34C0A}"/>
              </a:ext>
            </a:extLst>
          </p:cNvPr>
          <p:cNvSpPr txBox="1">
            <a:spLocks noGrp="1"/>
          </p:cNvSpPr>
          <p:nvPr>
            <p:ph type="body" idx="1"/>
          </p:nvPr>
        </p:nvSpPr>
        <p:spPr>
          <a:xfrm>
            <a:off x="2698250" y="1152474"/>
            <a:ext cx="5905500" cy="3123311"/>
          </a:xfrm>
          <a:prstGeom prst="rect">
            <a:avLst/>
          </a:prstGeom>
        </p:spPr>
        <p:txBody>
          <a:bodyPr spcFirstLastPara="1" wrap="square" lIns="91425" tIns="91425" rIns="91425" bIns="91425" anchor="t" anchorCtr="0">
            <a:normAutofit fontScale="92500" lnSpcReduction="10000"/>
          </a:bodyPr>
          <a:lstStyle/>
          <a:p>
            <a:pPr marL="114300" indent="0">
              <a:buNone/>
            </a:pPr>
            <a:r>
              <a:rPr lang="en-IN" b="1" dirty="0"/>
              <a:t>From the ATmega328 datasheet</a:t>
            </a:r>
          </a:p>
          <a:p>
            <a:endParaRPr lang="en-IN" b="1" dirty="0"/>
          </a:p>
          <a:p>
            <a:r>
              <a:rPr lang="en-IN" b="1" dirty="0"/>
              <a:t>TCCR0A – Timer/Counter Control Register A</a:t>
            </a:r>
          </a:p>
          <a:p>
            <a:pPr lvl="1"/>
            <a:r>
              <a:rPr lang="en-IN" dirty="0"/>
              <a:t>8 bit register</a:t>
            </a:r>
          </a:p>
          <a:p>
            <a:pPr lvl="1"/>
            <a:r>
              <a:rPr lang="en-IN" dirty="0"/>
              <a:t>Bits: </a:t>
            </a:r>
            <a:r>
              <a:rPr lang="en-IN" b="1" dirty="0"/>
              <a:t>COM0A1, COM0A0, COM0B1, COM0B0, –, –, WGM01, WGM00</a:t>
            </a:r>
            <a:endParaRPr lang="en-IN" dirty="0"/>
          </a:p>
          <a:p>
            <a:endParaRPr lang="en-IN" b="1" dirty="0"/>
          </a:p>
          <a:p>
            <a:r>
              <a:rPr lang="en-IN" b="1" dirty="0"/>
              <a:t>TCCR0B – Timer/Counter Control Register B</a:t>
            </a:r>
          </a:p>
          <a:p>
            <a:pPr lvl="1"/>
            <a:r>
              <a:rPr lang="en-IN" dirty="0"/>
              <a:t>8 bit register</a:t>
            </a:r>
          </a:p>
          <a:p>
            <a:pPr lvl="1"/>
            <a:r>
              <a:rPr lang="en-IN" dirty="0"/>
              <a:t>Bits: </a:t>
            </a:r>
            <a:r>
              <a:rPr lang="en-IN" b="1" dirty="0"/>
              <a:t>FOC0A, FOC0B, –, –, WGM02, CS02, CS01, CS00</a:t>
            </a:r>
            <a:endParaRPr lang="en-IN" dirty="0"/>
          </a:p>
          <a:p>
            <a:pPr marL="114300" indent="0">
              <a:buNone/>
            </a:pPr>
            <a:br>
              <a:rPr lang="en-IN" dirty="0"/>
            </a:br>
            <a:endParaRPr lang="en-IN" dirty="0"/>
          </a:p>
          <a:p>
            <a:pPr marL="457200" lvl="0" indent="-355600" algn="l" rtl="0">
              <a:spcBef>
                <a:spcPts val="0"/>
              </a:spcBef>
              <a:spcAft>
                <a:spcPts val="0"/>
              </a:spcAft>
              <a:buClr>
                <a:schemeClr val="dk1"/>
              </a:buClr>
              <a:buSzPts val="2000"/>
              <a:buFont typeface="Helvetica Neue"/>
              <a:buChar char="●"/>
            </a:pPr>
            <a:endParaRPr lang="en-US" sz="2200" dirty="0">
              <a:solidFill>
                <a:schemeClr val="tx1"/>
              </a:solidFill>
              <a:latin typeface="Helvetica Neue"/>
              <a:ea typeface="Helvetica Neue"/>
              <a:cs typeface="Helvetica Neue"/>
              <a:sym typeface="Helvetica Neue"/>
            </a:endParaRPr>
          </a:p>
        </p:txBody>
      </p:sp>
      <p:cxnSp>
        <p:nvCxnSpPr>
          <p:cNvPr id="5" name="Straight Connector 4">
            <a:extLst>
              <a:ext uri="{FF2B5EF4-FFF2-40B4-BE49-F238E27FC236}">
                <a16:creationId xmlns:a16="http://schemas.microsoft.com/office/drawing/2014/main" id="{5AA25D75-AA78-C106-31C9-45516351F34C}"/>
              </a:ext>
            </a:extLst>
          </p:cNvPr>
          <p:cNvCxnSpPr/>
          <p:nvPr/>
        </p:nvCxnSpPr>
        <p:spPr>
          <a:xfrm>
            <a:off x="4959350" y="2946400"/>
            <a:ext cx="368300"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40412F8-2E7C-D19E-3403-4E720E15525B}"/>
              </a:ext>
            </a:extLst>
          </p:cNvPr>
          <p:cNvSpPr txBox="1"/>
          <p:nvPr/>
        </p:nvSpPr>
        <p:spPr>
          <a:xfrm>
            <a:off x="4379174" y="1814287"/>
            <a:ext cx="184731" cy="307777"/>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321485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8DD38584-9F2E-A179-FCB7-9F46BA70F03C}"/>
            </a:ext>
          </a:extLst>
        </p:cNvPr>
        <p:cNvGrpSpPr/>
        <p:nvPr/>
      </p:nvGrpSpPr>
      <p:grpSpPr>
        <a:xfrm>
          <a:off x="0" y="0"/>
          <a:ext cx="0" cy="0"/>
          <a:chOff x="0" y="0"/>
          <a:chExt cx="0" cy="0"/>
        </a:xfrm>
      </p:grpSpPr>
      <p:sp>
        <p:nvSpPr>
          <p:cNvPr id="54" name="Google Shape;54;p11">
            <a:extLst>
              <a:ext uri="{FF2B5EF4-FFF2-40B4-BE49-F238E27FC236}">
                <a16:creationId xmlns:a16="http://schemas.microsoft.com/office/drawing/2014/main" id="{C4CE2FAD-1A13-21FB-4CDB-D7E0702E4157}"/>
              </a:ext>
            </a:extLst>
          </p:cNvPr>
          <p:cNvSpPr txBox="1">
            <a:spLocks noGrp="1"/>
          </p:cNvSpPr>
          <p:nvPr>
            <p:ph type="title"/>
          </p:nvPr>
        </p:nvSpPr>
        <p:spPr>
          <a:xfrm>
            <a:off x="2698250" y="367100"/>
            <a:ext cx="5905500" cy="572700"/>
          </a:xfrm>
          <a:prstGeom prst="rect">
            <a:avLst/>
          </a:prstGeom>
        </p:spPr>
        <p:txBody>
          <a:bodyPr spcFirstLastPara="1" wrap="square" lIns="91425" tIns="91425" rIns="91425" bIns="91425" anchor="t" anchorCtr="0">
            <a:normAutofit fontScale="90000"/>
          </a:bodyPr>
          <a:lstStyle/>
          <a:p>
            <a:pPr lvl="0" algn="ctr">
              <a:lnSpc>
                <a:spcPct val="115000"/>
              </a:lnSpc>
            </a:pPr>
            <a:r>
              <a:rPr lang="en-IN" sz="3300" dirty="0">
                <a:solidFill>
                  <a:schemeClr val="dk1"/>
                </a:solidFill>
                <a:latin typeface="Helvetica Neue"/>
                <a:ea typeface="Helvetica Neue"/>
                <a:cs typeface="Helvetica Neue"/>
                <a:sym typeface="Helvetica Neue"/>
              </a:rPr>
              <a:t>TCCR0A &amp; TCCR0B</a:t>
            </a:r>
            <a:endParaRPr sz="3300" dirty="0">
              <a:solidFill>
                <a:schemeClr val="dk1"/>
              </a:solidFill>
              <a:latin typeface="Helvetica Neue"/>
              <a:ea typeface="Helvetica Neue"/>
              <a:cs typeface="Helvetica Neue"/>
              <a:sym typeface="Helvetica Neue"/>
            </a:endParaRPr>
          </a:p>
          <a:p>
            <a:pPr marL="0" lvl="0" indent="0" algn="l" rtl="0">
              <a:spcBef>
                <a:spcPts val="0"/>
              </a:spcBef>
              <a:spcAft>
                <a:spcPts val="0"/>
              </a:spcAft>
              <a:buNone/>
            </a:pPr>
            <a:endParaRPr dirty="0"/>
          </a:p>
        </p:txBody>
      </p:sp>
      <p:sp>
        <p:nvSpPr>
          <p:cNvPr id="55" name="Google Shape;55;p11">
            <a:extLst>
              <a:ext uri="{FF2B5EF4-FFF2-40B4-BE49-F238E27FC236}">
                <a16:creationId xmlns:a16="http://schemas.microsoft.com/office/drawing/2014/main" id="{FF1E4D12-E5A8-7B19-694A-8370FEB4E421}"/>
              </a:ext>
            </a:extLst>
          </p:cNvPr>
          <p:cNvSpPr txBox="1">
            <a:spLocks noGrp="1"/>
          </p:cNvSpPr>
          <p:nvPr>
            <p:ph type="body" idx="1"/>
          </p:nvPr>
        </p:nvSpPr>
        <p:spPr>
          <a:xfrm>
            <a:off x="2698250" y="1152474"/>
            <a:ext cx="5905500" cy="3123311"/>
          </a:xfrm>
          <a:prstGeom prst="rect">
            <a:avLst/>
          </a:prstGeom>
        </p:spPr>
        <p:txBody>
          <a:bodyPr spcFirstLastPara="1" wrap="square" lIns="91425" tIns="91425" rIns="91425" bIns="91425" anchor="t" anchorCtr="0">
            <a:normAutofit fontScale="92500"/>
          </a:bodyPr>
          <a:lstStyle/>
          <a:p>
            <a:pPr marL="114300" indent="0">
              <a:buNone/>
            </a:pPr>
            <a:r>
              <a:rPr lang="en-IN" b="1" dirty="0"/>
              <a:t>Summary for ATmega328</a:t>
            </a:r>
          </a:p>
          <a:p>
            <a:r>
              <a:rPr lang="en-IN" dirty="0"/>
              <a:t>You use them together to configure Timer0:</a:t>
            </a:r>
          </a:p>
          <a:p>
            <a:endParaRPr lang="en-IN" dirty="0"/>
          </a:p>
          <a:p>
            <a:pPr lvl="1"/>
            <a:r>
              <a:rPr lang="en-IN" b="1" dirty="0"/>
              <a:t>Mode selection</a:t>
            </a:r>
            <a:r>
              <a:rPr lang="en-IN" dirty="0"/>
              <a:t> (Normal, CTC, Fast PWM, etc.) → WGM02:0 across </a:t>
            </a:r>
            <a:r>
              <a:rPr lang="en-IN" dirty="0">
                <a:solidFill>
                  <a:srgbClr val="FF0000"/>
                </a:solidFill>
              </a:rPr>
              <a:t>A &amp; B</a:t>
            </a:r>
          </a:p>
          <a:p>
            <a:pPr lvl="1"/>
            <a:r>
              <a:rPr lang="en-IN" b="1" dirty="0"/>
              <a:t>Compare output control</a:t>
            </a:r>
            <a:r>
              <a:rPr lang="en-IN" dirty="0"/>
              <a:t> (OC0A / OC0B pin actions) → in </a:t>
            </a:r>
            <a:r>
              <a:rPr lang="en-IN" dirty="0">
                <a:solidFill>
                  <a:srgbClr val="FF0000"/>
                </a:solidFill>
              </a:rPr>
              <a:t>TCCR0A</a:t>
            </a:r>
          </a:p>
          <a:p>
            <a:pPr lvl="1"/>
            <a:r>
              <a:rPr lang="en-IN" b="1" dirty="0" err="1"/>
              <a:t>Prescaler</a:t>
            </a:r>
            <a:r>
              <a:rPr lang="en-IN" b="1" dirty="0"/>
              <a:t> / clock source</a:t>
            </a:r>
            <a:r>
              <a:rPr lang="en-IN" dirty="0"/>
              <a:t> → in </a:t>
            </a:r>
            <a:r>
              <a:rPr lang="en-IN" dirty="0">
                <a:solidFill>
                  <a:srgbClr val="FF0000"/>
                </a:solidFill>
              </a:rPr>
              <a:t>TCCR0B</a:t>
            </a:r>
          </a:p>
          <a:p>
            <a:pPr lvl="1"/>
            <a:endParaRPr lang="en-IN" dirty="0"/>
          </a:p>
          <a:p>
            <a:endParaRPr lang="en-IN" dirty="0"/>
          </a:p>
          <a:p>
            <a:r>
              <a:rPr lang="en-IN" dirty="0">
                <a:solidFill>
                  <a:srgbClr val="FF0000"/>
                </a:solidFill>
              </a:rPr>
              <a:t>That’s why in code, you’ll often see </a:t>
            </a:r>
            <a:r>
              <a:rPr lang="en-IN" b="1" dirty="0">
                <a:solidFill>
                  <a:srgbClr val="FF0000"/>
                </a:solidFill>
              </a:rPr>
              <a:t>both</a:t>
            </a:r>
            <a:r>
              <a:rPr lang="en-IN" dirty="0">
                <a:solidFill>
                  <a:srgbClr val="FF0000"/>
                </a:solidFill>
              </a:rPr>
              <a:t> registers being written when setting up Timer0.</a:t>
            </a:r>
          </a:p>
          <a:p>
            <a:endParaRPr lang="en-IN" dirty="0"/>
          </a:p>
          <a:p>
            <a:pPr marL="457200" lvl="0" indent="-355600" algn="l" rtl="0">
              <a:spcBef>
                <a:spcPts val="0"/>
              </a:spcBef>
              <a:spcAft>
                <a:spcPts val="0"/>
              </a:spcAft>
              <a:buClr>
                <a:schemeClr val="dk1"/>
              </a:buClr>
              <a:buSzPts val="2000"/>
              <a:buFont typeface="Helvetica Neue"/>
              <a:buChar char="●"/>
            </a:pPr>
            <a:endParaRPr lang="en-US" sz="2200" dirty="0">
              <a:solidFill>
                <a:schemeClr val="tx1"/>
              </a:solidFill>
              <a:latin typeface="Helvetica Neue"/>
              <a:ea typeface="Helvetica Neue"/>
              <a:cs typeface="Helvetica Neue"/>
              <a:sym typeface="Helvetica Neue"/>
            </a:endParaRPr>
          </a:p>
        </p:txBody>
      </p:sp>
      <p:sp>
        <p:nvSpPr>
          <p:cNvPr id="7" name="TextBox 6">
            <a:extLst>
              <a:ext uri="{FF2B5EF4-FFF2-40B4-BE49-F238E27FC236}">
                <a16:creationId xmlns:a16="http://schemas.microsoft.com/office/drawing/2014/main" id="{1699D143-8BAE-94DC-08F8-20BCB21DAA64}"/>
              </a:ext>
            </a:extLst>
          </p:cNvPr>
          <p:cNvSpPr txBox="1"/>
          <p:nvPr/>
        </p:nvSpPr>
        <p:spPr>
          <a:xfrm>
            <a:off x="4379174" y="2263973"/>
            <a:ext cx="284052" cy="307777"/>
          </a:xfrm>
          <a:prstGeom prst="rect">
            <a:avLst/>
          </a:prstGeom>
          <a:noFill/>
        </p:spPr>
        <p:txBody>
          <a:bodyPr wrap="none" rtlCol="0">
            <a:spAutoFit/>
          </a:bodyPr>
          <a:lstStyle/>
          <a:p>
            <a:r>
              <a:rPr lang="en-IN" dirty="0"/>
              <a:t>1</a:t>
            </a:r>
          </a:p>
        </p:txBody>
      </p:sp>
    </p:spTree>
    <p:extLst>
      <p:ext uri="{BB962C8B-B14F-4D97-AF65-F5344CB8AC3E}">
        <p14:creationId xmlns:p14="http://schemas.microsoft.com/office/powerpoint/2010/main" val="3959199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628EF502-B7A5-FB11-7111-8A17DC353CD5}"/>
            </a:ext>
          </a:extLst>
        </p:cNvPr>
        <p:cNvGrpSpPr/>
        <p:nvPr/>
      </p:nvGrpSpPr>
      <p:grpSpPr>
        <a:xfrm>
          <a:off x="0" y="0"/>
          <a:ext cx="0" cy="0"/>
          <a:chOff x="0" y="0"/>
          <a:chExt cx="0" cy="0"/>
        </a:xfrm>
      </p:grpSpPr>
      <p:sp>
        <p:nvSpPr>
          <p:cNvPr id="54" name="Google Shape;54;p11">
            <a:extLst>
              <a:ext uri="{FF2B5EF4-FFF2-40B4-BE49-F238E27FC236}">
                <a16:creationId xmlns:a16="http://schemas.microsoft.com/office/drawing/2014/main" id="{165450FA-9AB0-DAAA-8787-5819DF6E52EE}"/>
              </a:ext>
            </a:extLst>
          </p:cNvPr>
          <p:cNvSpPr txBox="1">
            <a:spLocks noGrp="1"/>
          </p:cNvSpPr>
          <p:nvPr>
            <p:ph type="title"/>
          </p:nvPr>
        </p:nvSpPr>
        <p:spPr>
          <a:xfrm>
            <a:off x="2698250" y="367100"/>
            <a:ext cx="59055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0"/>
              </a:spcBef>
              <a:spcAft>
                <a:spcPts val="0"/>
              </a:spcAft>
              <a:buNone/>
            </a:pPr>
            <a:r>
              <a:rPr lang="en-IN" sz="3300" dirty="0">
                <a:solidFill>
                  <a:schemeClr val="dk1"/>
                </a:solidFill>
                <a:latin typeface="Helvetica Neue"/>
                <a:ea typeface="Helvetica Neue"/>
                <a:cs typeface="Helvetica Neue"/>
                <a:sym typeface="Helvetica Neue"/>
              </a:rPr>
              <a:t>TIFR(Timer/Counter Interrupt Flag Register</a:t>
            </a:r>
            <a:endParaRPr sz="3300" dirty="0">
              <a:solidFill>
                <a:schemeClr val="dk1"/>
              </a:solidFill>
              <a:latin typeface="Helvetica Neue"/>
              <a:ea typeface="Helvetica Neue"/>
              <a:cs typeface="Helvetica Neue"/>
              <a:sym typeface="Helvetica Neue"/>
            </a:endParaRPr>
          </a:p>
          <a:p>
            <a:pPr marL="0" lvl="0" indent="0" algn="l" rtl="0">
              <a:spcBef>
                <a:spcPts val="0"/>
              </a:spcBef>
              <a:spcAft>
                <a:spcPts val="0"/>
              </a:spcAft>
              <a:buNone/>
            </a:pPr>
            <a:endParaRPr dirty="0"/>
          </a:p>
        </p:txBody>
      </p:sp>
      <p:cxnSp>
        <p:nvCxnSpPr>
          <p:cNvPr id="5" name="Straight Connector 4">
            <a:extLst>
              <a:ext uri="{FF2B5EF4-FFF2-40B4-BE49-F238E27FC236}">
                <a16:creationId xmlns:a16="http://schemas.microsoft.com/office/drawing/2014/main" id="{5FA940B4-60B1-C71C-1017-06860D68A9DF}"/>
              </a:ext>
            </a:extLst>
          </p:cNvPr>
          <p:cNvCxnSpPr/>
          <p:nvPr/>
        </p:nvCxnSpPr>
        <p:spPr>
          <a:xfrm>
            <a:off x="4959350" y="2946400"/>
            <a:ext cx="368300"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FDB9AF5-5F8C-E3E1-BDCC-AC1AC0B2B78C}"/>
              </a:ext>
            </a:extLst>
          </p:cNvPr>
          <p:cNvSpPr txBox="1"/>
          <p:nvPr/>
        </p:nvSpPr>
        <p:spPr>
          <a:xfrm>
            <a:off x="4379174" y="1814287"/>
            <a:ext cx="284052" cy="307777"/>
          </a:xfrm>
          <a:prstGeom prst="rect">
            <a:avLst/>
          </a:prstGeom>
          <a:noFill/>
        </p:spPr>
        <p:txBody>
          <a:bodyPr wrap="none" rtlCol="0">
            <a:spAutoFit/>
          </a:bodyPr>
          <a:lstStyle/>
          <a:p>
            <a:r>
              <a:rPr lang="en-IN" dirty="0"/>
              <a:t>0</a:t>
            </a:r>
          </a:p>
        </p:txBody>
      </p:sp>
      <p:sp>
        <p:nvSpPr>
          <p:cNvPr id="7" name="TextBox 6">
            <a:extLst>
              <a:ext uri="{FF2B5EF4-FFF2-40B4-BE49-F238E27FC236}">
                <a16:creationId xmlns:a16="http://schemas.microsoft.com/office/drawing/2014/main" id="{8072C31E-5BC7-321B-E77E-D3ACB25CE27A}"/>
              </a:ext>
            </a:extLst>
          </p:cNvPr>
          <p:cNvSpPr txBox="1"/>
          <p:nvPr/>
        </p:nvSpPr>
        <p:spPr>
          <a:xfrm>
            <a:off x="4379174" y="2263973"/>
            <a:ext cx="284052" cy="307777"/>
          </a:xfrm>
          <a:prstGeom prst="rect">
            <a:avLst/>
          </a:prstGeom>
          <a:noFill/>
        </p:spPr>
        <p:txBody>
          <a:bodyPr wrap="none" rtlCol="0">
            <a:spAutoFit/>
          </a:bodyPr>
          <a:lstStyle/>
          <a:p>
            <a:r>
              <a:rPr lang="en-IN" dirty="0"/>
              <a:t>1</a:t>
            </a:r>
          </a:p>
        </p:txBody>
      </p:sp>
      <p:pic>
        <p:nvPicPr>
          <p:cNvPr id="3" name="Picture 2">
            <a:extLst>
              <a:ext uri="{FF2B5EF4-FFF2-40B4-BE49-F238E27FC236}">
                <a16:creationId xmlns:a16="http://schemas.microsoft.com/office/drawing/2014/main" id="{F7648779-8BF8-78D3-9138-28544F501A87}"/>
              </a:ext>
            </a:extLst>
          </p:cNvPr>
          <p:cNvPicPr>
            <a:picLocks noChangeAspect="1"/>
          </p:cNvPicPr>
          <p:nvPr/>
        </p:nvPicPr>
        <p:blipFill>
          <a:blip r:embed="rId3"/>
          <a:stretch>
            <a:fillRect/>
          </a:stretch>
        </p:blipFill>
        <p:spPr>
          <a:xfrm>
            <a:off x="2698250" y="1481608"/>
            <a:ext cx="5531476" cy="3230022"/>
          </a:xfrm>
          <a:prstGeom prst="rect">
            <a:avLst/>
          </a:prstGeom>
        </p:spPr>
      </p:pic>
    </p:spTree>
    <p:extLst>
      <p:ext uri="{BB962C8B-B14F-4D97-AF65-F5344CB8AC3E}">
        <p14:creationId xmlns:p14="http://schemas.microsoft.com/office/powerpoint/2010/main" val="3362503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4120A823-3184-C8CB-E39F-CBED365C2F1F}"/>
            </a:ext>
          </a:extLst>
        </p:cNvPr>
        <p:cNvGrpSpPr/>
        <p:nvPr/>
      </p:nvGrpSpPr>
      <p:grpSpPr>
        <a:xfrm>
          <a:off x="0" y="0"/>
          <a:ext cx="0" cy="0"/>
          <a:chOff x="0" y="0"/>
          <a:chExt cx="0" cy="0"/>
        </a:xfrm>
      </p:grpSpPr>
      <p:sp>
        <p:nvSpPr>
          <p:cNvPr id="54" name="Google Shape;54;p11">
            <a:extLst>
              <a:ext uri="{FF2B5EF4-FFF2-40B4-BE49-F238E27FC236}">
                <a16:creationId xmlns:a16="http://schemas.microsoft.com/office/drawing/2014/main" id="{7A645367-F02C-F692-8F93-F06795DD6121}"/>
              </a:ext>
            </a:extLst>
          </p:cNvPr>
          <p:cNvSpPr txBox="1">
            <a:spLocks noGrp="1"/>
          </p:cNvSpPr>
          <p:nvPr>
            <p:ph type="title"/>
          </p:nvPr>
        </p:nvSpPr>
        <p:spPr>
          <a:xfrm>
            <a:off x="2698250" y="367100"/>
            <a:ext cx="5905500" cy="572700"/>
          </a:xfrm>
          <a:prstGeom prst="rect">
            <a:avLst/>
          </a:prstGeom>
        </p:spPr>
        <p:txBody>
          <a:bodyPr spcFirstLastPara="1" wrap="square" lIns="91425" tIns="91425" rIns="91425" bIns="91425" anchor="t" anchorCtr="0">
            <a:normAutofit fontScale="90000"/>
          </a:bodyPr>
          <a:lstStyle/>
          <a:p>
            <a:pPr lvl="0" algn="ctr">
              <a:lnSpc>
                <a:spcPct val="115000"/>
              </a:lnSpc>
            </a:pPr>
            <a:r>
              <a:rPr lang="en-IN" dirty="0"/>
              <a:t>The undigested TIFR0 |= (1 &lt;&lt; TOV0);</a:t>
            </a:r>
            <a:endParaRPr dirty="0"/>
          </a:p>
        </p:txBody>
      </p:sp>
      <p:sp>
        <p:nvSpPr>
          <p:cNvPr id="55" name="Google Shape;55;p11">
            <a:extLst>
              <a:ext uri="{FF2B5EF4-FFF2-40B4-BE49-F238E27FC236}">
                <a16:creationId xmlns:a16="http://schemas.microsoft.com/office/drawing/2014/main" id="{250CD63C-B82C-1DD0-0CBB-C3C42C9943E2}"/>
              </a:ext>
            </a:extLst>
          </p:cNvPr>
          <p:cNvSpPr txBox="1">
            <a:spLocks noGrp="1"/>
          </p:cNvSpPr>
          <p:nvPr>
            <p:ph type="body" idx="1"/>
          </p:nvPr>
        </p:nvSpPr>
        <p:spPr>
          <a:xfrm>
            <a:off x="2698250" y="1152474"/>
            <a:ext cx="5905500" cy="3123311"/>
          </a:xfrm>
          <a:prstGeom prst="rect">
            <a:avLst/>
          </a:prstGeom>
        </p:spPr>
        <p:txBody>
          <a:bodyPr spcFirstLastPara="1" wrap="square" lIns="91425" tIns="91425" rIns="91425" bIns="91425" anchor="t" anchorCtr="0">
            <a:normAutofit/>
          </a:bodyPr>
          <a:lstStyle/>
          <a:p>
            <a:pPr marL="101600" lvl="0" indent="0" algn="l" rtl="0">
              <a:spcBef>
                <a:spcPts val="0"/>
              </a:spcBef>
              <a:spcAft>
                <a:spcPts val="0"/>
              </a:spcAft>
              <a:buClr>
                <a:schemeClr val="dk1"/>
              </a:buClr>
              <a:buSzPts val="2000"/>
              <a:buNone/>
            </a:pPr>
            <a:endParaRPr lang="en-US" sz="2200" dirty="0">
              <a:solidFill>
                <a:schemeClr val="tx1"/>
              </a:solidFill>
              <a:latin typeface="Helvetica Neue"/>
              <a:ea typeface="Helvetica Neue"/>
              <a:cs typeface="Helvetica Neue"/>
              <a:sym typeface="Helvetica Neue"/>
            </a:endParaRPr>
          </a:p>
          <a:p>
            <a:pPr marL="457200" lvl="0" indent="-355600" algn="l" rtl="0">
              <a:spcBef>
                <a:spcPts val="0"/>
              </a:spcBef>
              <a:spcAft>
                <a:spcPts val="0"/>
              </a:spcAft>
              <a:buClr>
                <a:schemeClr val="dk1"/>
              </a:buClr>
              <a:buSzPts val="2000"/>
              <a:buFont typeface="Helvetica Neue"/>
              <a:buChar char="●"/>
            </a:pPr>
            <a:r>
              <a:rPr lang="en-US" sz="2200" dirty="0">
                <a:solidFill>
                  <a:schemeClr val="tx1"/>
                </a:solidFill>
                <a:latin typeface="Helvetica Neue"/>
                <a:ea typeface="Helvetica Neue"/>
                <a:cs typeface="Helvetica Neue"/>
                <a:sym typeface="Helvetica Neue"/>
              </a:rPr>
              <a:t>Hardware sets it to 1 whenever Timer0 overflows (goes from 255 → 0).</a:t>
            </a:r>
          </a:p>
          <a:p>
            <a:pPr marL="457200" lvl="0" indent="-355600" algn="l" rtl="0">
              <a:spcBef>
                <a:spcPts val="0"/>
              </a:spcBef>
              <a:spcAft>
                <a:spcPts val="0"/>
              </a:spcAft>
              <a:buClr>
                <a:schemeClr val="dk1"/>
              </a:buClr>
              <a:buSzPts val="2000"/>
              <a:buFont typeface="Helvetica Neue"/>
              <a:buChar char="●"/>
            </a:pPr>
            <a:r>
              <a:rPr lang="en-US" sz="2200" dirty="0">
                <a:solidFill>
                  <a:schemeClr val="tx1"/>
                </a:solidFill>
                <a:latin typeface="Helvetica Neue"/>
                <a:ea typeface="Helvetica Neue"/>
                <a:cs typeface="Helvetica Neue"/>
                <a:sym typeface="Helvetica Neue"/>
              </a:rPr>
              <a:t>To clear it, you must write a 1 to it </a:t>
            </a:r>
          </a:p>
          <a:p>
            <a:pPr marL="101600" lvl="0" indent="0" algn="l" rtl="0">
              <a:spcBef>
                <a:spcPts val="0"/>
              </a:spcBef>
              <a:spcAft>
                <a:spcPts val="0"/>
              </a:spcAft>
              <a:buClr>
                <a:schemeClr val="dk1"/>
              </a:buClr>
              <a:buSzPts val="2000"/>
              <a:buNone/>
            </a:pPr>
            <a:r>
              <a:rPr lang="en-US" sz="2200" dirty="0">
                <a:solidFill>
                  <a:schemeClr val="tx1"/>
                </a:solidFill>
                <a:latin typeface="Helvetica Neue"/>
                <a:ea typeface="Helvetica Neue"/>
                <a:cs typeface="Helvetica Neue"/>
                <a:sym typeface="Helvetica Neue"/>
              </a:rPr>
              <a:t>	</a:t>
            </a:r>
            <a:r>
              <a:rPr lang="en-US" sz="2200" dirty="0">
                <a:solidFill>
                  <a:srgbClr val="FF0000"/>
                </a:solidFill>
                <a:latin typeface="Helvetica Neue"/>
                <a:ea typeface="Helvetica Neue"/>
                <a:cs typeface="Helvetica Neue"/>
                <a:sym typeface="Helvetica Neue"/>
              </a:rPr>
              <a:t>(yes, opposite of normal thinking!).</a:t>
            </a:r>
          </a:p>
          <a:p>
            <a:pPr marL="457200" lvl="0" indent="-355600" algn="l" rtl="0">
              <a:spcBef>
                <a:spcPts val="0"/>
              </a:spcBef>
              <a:spcAft>
                <a:spcPts val="0"/>
              </a:spcAft>
              <a:buClr>
                <a:schemeClr val="dk1"/>
              </a:buClr>
              <a:buSzPts val="2000"/>
              <a:buFont typeface="Helvetica Neue"/>
              <a:buChar char="●"/>
            </a:pPr>
            <a:endParaRPr lang="en-US" sz="2200" dirty="0">
              <a:solidFill>
                <a:schemeClr val="tx1"/>
              </a:solidFill>
              <a:latin typeface="Helvetica Neue"/>
              <a:ea typeface="Helvetica Neue"/>
              <a:cs typeface="Helvetica Neue"/>
              <a:sym typeface="Helvetica Neue"/>
            </a:endParaRPr>
          </a:p>
          <a:p>
            <a:pPr marL="457200" lvl="0" indent="-355600" algn="l" rtl="0">
              <a:spcBef>
                <a:spcPts val="0"/>
              </a:spcBef>
              <a:spcAft>
                <a:spcPts val="0"/>
              </a:spcAft>
              <a:buClr>
                <a:schemeClr val="dk1"/>
              </a:buClr>
              <a:buSzPts val="2000"/>
              <a:buFont typeface="Helvetica Neue"/>
              <a:buChar char="●"/>
            </a:pPr>
            <a:r>
              <a:rPr lang="en-US" sz="2200" dirty="0">
                <a:solidFill>
                  <a:schemeClr val="tx1"/>
                </a:solidFill>
                <a:latin typeface="Helvetica Neue"/>
                <a:ea typeface="Helvetica Neue"/>
                <a:cs typeface="Helvetica Neue"/>
                <a:sym typeface="Helvetica Neue"/>
              </a:rPr>
              <a:t>Writing 0 has no effect.</a:t>
            </a:r>
          </a:p>
        </p:txBody>
      </p:sp>
      <p:sp>
        <p:nvSpPr>
          <p:cNvPr id="6" name="TextBox 5">
            <a:extLst>
              <a:ext uri="{FF2B5EF4-FFF2-40B4-BE49-F238E27FC236}">
                <a16:creationId xmlns:a16="http://schemas.microsoft.com/office/drawing/2014/main" id="{1CB683D4-DE8B-6696-57B8-D744117B778D}"/>
              </a:ext>
            </a:extLst>
          </p:cNvPr>
          <p:cNvSpPr txBox="1"/>
          <p:nvPr/>
        </p:nvSpPr>
        <p:spPr>
          <a:xfrm>
            <a:off x="4379174" y="1814287"/>
            <a:ext cx="284052" cy="307777"/>
          </a:xfrm>
          <a:prstGeom prst="rect">
            <a:avLst/>
          </a:prstGeom>
          <a:noFill/>
        </p:spPr>
        <p:txBody>
          <a:bodyPr wrap="none" rtlCol="0">
            <a:spAutoFit/>
          </a:bodyPr>
          <a:lstStyle/>
          <a:p>
            <a:r>
              <a:rPr lang="en-IN" dirty="0"/>
              <a:t>0</a:t>
            </a:r>
          </a:p>
        </p:txBody>
      </p:sp>
      <p:sp>
        <p:nvSpPr>
          <p:cNvPr id="7" name="TextBox 6">
            <a:extLst>
              <a:ext uri="{FF2B5EF4-FFF2-40B4-BE49-F238E27FC236}">
                <a16:creationId xmlns:a16="http://schemas.microsoft.com/office/drawing/2014/main" id="{28F1CFEA-17B6-954A-2DBD-83E67B1EFFA6}"/>
              </a:ext>
            </a:extLst>
          </p:cNvPr>
          <p:cNvSpPr txBox="1"/>
          <p:nvPr/>
        </p:nvSpPr>
        <p:spPr>
          <a:xfrm>
            <a:off x="4379174" y="2263973"/>
            <a:ext cx="284052" cy="307777"/>
          </a:xfrm>
          <a:prstGeom prst="rect">
            <a:avLst/>
          </a:prstGeom>
          <a:noFill/>
        </p:spPr>
        <p:txBody>
          <a:bodyPr wrap="none" rtlCol="0">
            <a:spAutoFit/>
          </a:bodyPr>
          <a:lstStyle/>
          <a:p>
            <a:r>
              <a:rPr lang="en-IN" dirty="0"/>
              <a:t>1</a:t>
            </a:r>
          </a:p>
        </p:txBody>
      </p:sp>
    </p:spTree>
    <p:extLst>
      <p:ext uri="{BB962C8B-B14F-4D97-AF65-F5344CB8AC3E}">
        <p14:creationId xmlns:p14="http://schemas.microsoft.com/office/powerpoint/2010/main" val="1933302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C1C64D63-60C2-BF9A-6617-A57C13D61C4A}"/>
            </a:ext>
          </a:extLst>
        </p:cNvPr>
        <p:cNvGrpSpPr/>
        <p:nvPr/>
      </p:nvGrpSpPr>
      <p:grpSpPr>
        <a:xfrm>
          <a:off x="0" y="0"/>
          <a:ext cx="0" cy="0"/>
          <a:chOff x="0" y="0"/>
          <a:chExt cx="0" cy="0"/>
        </a:xfrm>
      </p:grpSpPr>
      <p:sp>
        <p:nvSpPr>
          <p:cNvPr id="54" name="Google Shape;54;p11">
            <a:extLst>
              <a:ext uri="{FF2B5EF4-FFF2-40B4-BE49-F238E27FC236}">
                <a16:creationId xmlns:a16="http://schemas.microsoft.com/office/drawing/2014/main" id="{DC0A506D-8409-EBD5-AA7A-99B5961272EF}"/>
              </a:ext>
            </a:extLst>
          </p:cNvPr>
          <p:cNvSpPr txBox="1">
            <a:spLocks noGrp="1"/>
          </p:cNvSpPr>
          <p:nvPr>
            <p:ph type="title"/>
          </p:nvPr>
        </p:nvSpPr>
        <p:spPr>
          <a:xfrm>
            <a:off x="2698250" y="367100"/>
            <a:ext cx="5905500" cy="572700"/>
          </a:xfrm>
          <a:prstGeom prst="rect">
            <a:avLst/>
          </a:prstGeom>
        </p:spPr>
        <p:txBody>
          <a:bodyPr spcFirstLastPara="1" wrap="square" lIns="91425" tIns="91425" rIns="91425" bIns="91425" anchor="t" anchorCtr="0">
            <a:normAutofit fontScale="90000"/>
          </a:bodyPr>
          <a:lstStyle/>
          <a:p>
            <a:pPr lvl="0" algn="ctr">
              <a:lnSpc>
                <a:spcPct val="115000"/>
              </a:lnSpc>
            </a:pPr>
            <a:r>
              <a:rPr lang="en-IN" dirty="0"/>
              <a:t>Everything else is NORMAL</a:t>
            </a:r>
            <a:endParaRPr dirty="0"/>
          </a:p>
        </p:txBody>
      </p:sp>
      <p:sp>
        <p:nvSpPr>
          <p:cNvPr id="55" name="Google Shape;55;p11">
            <a:extLst>
              <a:ext uri="{FF2B5EF4-FFF2-40B4-BE49-F238E27FC236}">
                <a16:creationId xmlns:a16="http://schemas.microsoft.com/office/drawing/2014/main" id="{D02D7CAE-38F8-8545-FFF6-1F577A01BE56}"/>
              </a:ext>
            </a:extLst>
          </p:cNvPr>
          <p:cNvSpPr txBox="1">
            <a:spLocks noGrp="1"/>
          </p:cNvSpPr>
          <p:nvPr>
            <p:ph type="body" idx="1"/>
          </p:nvPr>
        </p:nvSpPr>
        <p:spPr>
          <a:xfrm>
            <a:off x="2698250" y="1152474"/>
            <a:ext cx="5905500" cy="3123311"/>
          </a:xfrm>
          <a:prstGeom prst="rect">
            <a:avLst/>
          </a:prstGeom>
        </p:spPr>
        <p:txBody>
          <a:bodyPr spcFirstLastPara="1" wrap="square" lIns="91425" tIns="91425" rIns="91425" bIns="91425" anchor="t" anchorCtr="0">
            <a:normAutofit/>
          </a:bodyPr>
          <a:lstStyle/>
          <a:p>
            <a:pPr marL="101600" lvl="0" indent="0" algn="l" rtl="0">
              <a:spcBef>
                <a:spcPts val="0"/>
              </a:spcBef>
              <a:spcAft>
                <a:spcPts val="0"/>
              </a:spcAft>
              <a:buClr>
                <a:schemeClr val="dk1"/>
              </a:buClr>
              <a:buSzPts val="2000"/>
              <a:buNone/>
            </a:pPr>
            <a:r>
              <a:rPr lang="en-US" sz="2200" dirty="0">
                <a:solidFill>
                  <a:schemeClr val="tx1"/>
                </a:solidFill>
                <a:latin typeface="Helvetica Neue"/>
                <a:ea typeface="Helvetica Neue"/>
                <a:cs typeface="Helvetica Neue"/>
                <a:sym typeface="Helvetica Neue"/>
              </a:rPr>
              <a:t>Overflow Check Command</a:t>
            </a:r>
          </a:p>
          <a:p>
            <a:pPr marL="101600" lvl="0" indent="0" algn="l" rtl="0">
              <a:spcBef>
                <a:spcPts val="0"/>
              </a:spcBef>
              <a:spcAft>
                <a:spcPts val="0"/>
              </a:spcAft>
              <a:buClr>
                <a:schemeClr val="dk1"/>
              </a:buClr>
              <a:buSzPts val="2000"/>
              <a:buNone/>
            </a:pPr>
            <a:endParaRPr lang="en-US" sz="2200" dirty="0">
              <a:solidFill>
                <a:schemeClr val="tx1"/>
              </a:solidFill>
              <a:latin typeface="Helvetica Neue"/>
              <a:ea typeface="Helvetica Neue"/>
              <a:cs typeface="Helvetica Neue"/>
              <a:sym typeface="Helvetica Neue"/>
            </a:endParaRPr>
          </a:p>
          <a:p>
            <a:pPr marL="101600" lvl="0" indent="0">
              <a:buSzPts val="2000"/>
              <a:buNone/>
            </a:pPr>
            <a:r>
              <a:rPr lang="en-IN" dirty="0">
                <a:solidFill>
                  <a:srgbClr val="FF0000"/>
                </a:solidFill>
              </a:rPr>
              <a:t>while (!(TIFR0 &amp; (1 &lt;&lt; TOV0))); // wait until overflow</a:t>
            </a:r>
            <a:endParaRPr lang="en-US" sz="2200" dirty="0">
              <a:solidFill>
                <a:srgbClr val="FF0000"/>
              </a:solidFill>
              <a:latin typeface="Helvetica Neue"/>
              <a:ea typeface="Helvetica Neue"/>
              <a:cs typeface="Helvetica Neue"/>
              <a:sym typeface="Helvetica Neue"/>
            </a:endParaRPr>
          </a:p>
        </p:txBody>
      </p:sp>
      <p:sp>
        <p:nvSpPr>
          <p:cNvPr id="6" name="TextBox 5">
            <a:extLst>
              <a:ext uri="{FF2B5EF4-FFF2-40B4-BE49-F238E27FC236}">
                <a16:creationId xmlns:a16="http://schemas.microsoft.com/office/drawing/2014/main" id="{C702A82D-CBAC-2CE5-2B0D-A2351C44463B}"/>
              </a:ext>
            </a:extLst>
          </p:cNvPr>
          <p:cNvSpPr txBox="1"/>
          <p:nvPr/>
        </p:nvSpPr>
        <p:spPr>
          <a:xfrm>
            <a:off x="4379174" y="1814287"/>
            <a:ext cx="284052" cy="307777"/>
          </a:xfrm>
          <a:prstGeom prst="rect">
            <a:avLst/>
          </a:prstGeom>
          <a:noFill/>
        </p:spPr>
        <p:txBody>
          <a:bodyPr wrap="none" rtlCol="0">
            <a:spAutoFit/>
          </a:bodyPr>
          <a:lstStyle/>
          <a:p>
            <a:r>
              <a:rPr lang="en-IN" dirty="0"/>
              <a:t>0</a:t>
            </a:r>
          </a:p>
        </p:txBody>
      </p:sp>
      <p:sp>
        <p:nvSpPr>
          <p:cNvPr id="7" name="TextBox 6">
            <a:extLst>
              <a:ext uri="{FF2B5EF4-FFF2-40B4-BE49-F238E27FC236}">
                <a16:creationId xmlns:a16="http://schemas.microsoft.com/office/drawing/2014/main" id="{32102B3F-DAE9-6D12-879B-ECC95BA80F1B}"/>
              </a:ext>
            </a:extLst>
          </p:cNvPr>
          <p:cNvSpPr txBox="1"/>
          <p:nvPr/>
        </p:nvSpPr>
        <p:spPr>
          <a:xfrm>
            <a:off x="4379174" y="2263973"/>
            <a:ext cx="284052" cy="307777"/>
          </a:xfrm>
          <a:prstGeom prst="rect">
            <a:avLst/>
          </a:prstGeom>
          <a:noFill/>
        </p:spPr>
        <p:txBody>
          <a:bodyPr wrap="none" rtlCol="0">
            <a:spAutoFit/>
          </a:bodyPr>
          <a:lstStyle/>
          <a:p>
            <a:r>
              <a:rPr lang="en-IN" dirty="0"/>
              <a:t>1</a:t>
            </a:r>
          </a:p>
        </p:txBody>
      </p:sp>
    </p:spTree>
    <p:extLst>
      <p:ext uri="{BB962C8B-B14F-4D97-AF65-F5344CB8AC3E}">
        <p14:creationId xmlns:p14="http://schemas.microsoft.com/office/powerpoint/2010/main" val="1380718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CCED2995-AF43-D54E-50A0-70E983C085CE}"/>
            </a:ext>
          </a:extLst>
        </p:cNvPr>
        <p:cNvGrpSpPr/>
        <p:nvPr/>
      </p:nvGrpSpPr>
      <p:grpSpPr>
        <a:xfrm>
          <a:off x="0" y="0"/>
          <a:ext cx="0" cy="0"/>
          <a:chOff x="0" y="0"/>
          <a:chExt cx="0" cy="0"/>
        </a:xfrm>
      </p:grpSpPr>
      <p:sp>
        <p:nvSpPr>
          <p:cNvPr id="54" name="Google Shape;54;p11">
            <a:extLst>
              <a:ext uri="{FF2B5EF4-FFF2-40B4-BE49-F238E27FC236}">
                <a16:creationId xmlns:a16="http://schemas.microsoft.com/office/drawing/2014/main" id="{F5C408E8-BC47-B2C2-7462-C129AFFB4F4F}"/>
              </a:ext>
            </a:extLst>
          </p:cNvPr>
          <p:cNvSpPr txBox="1">
            <a:spLocks noGrp="1"/>
          </p:cNvSpPr>
          <p:nvPr>
            <p:ph type="title"/>
          </p:nvPr>
        </p:nvSpPr>
        <p:spPr>
          <a:xfrm>
            <a:off x="2981585" y="1980085"/>
            <a:ext cx="5982111" cy="991621"/>
          </a:xfrm>
          <a:prstGeom prst="rect">
            <a:avLst/>
          </a:prstGeom>
        </p:spPr>
        <p:txBody>
          <a:bodyPr spcFirstLastPara="1" wrap="square" lIns="91425" tIns="91425" rIns="91425" bIns="91425" anchor="t" anchorCtr="0">
            <a:normAutofit/>
          </a:bodyPr>
          <a:lstStyle/>
          <a:p>
            <a:pPr marL="0" lvl="0" indent="0" algn="ctr" rtl="0">
              <a:lnSpc>
                <a:spcPct val="115000"/>
              </a:lnSpc>
              <a:spcBef>
                <a:spcPts val="0"/>
              </a:spcBef>
              <a:spcAft>
                <a:spcPts val="0"/>
              </a:spcAft>
              <a:buNone/>
            </a:pPr>
            <a:r>
              <a:rPr lang="en-IN" sz="3300" dirty="0">
                <a:solidFill>
                  <a:schemeClr val="dk1"/>
                </a:solidFill>
                <a:latin typeface="Helvetica Neue"/>
                <a:ea typeface="Helvetica Neue"/>
                <a:cs typeface="Helvetica Neue"/>
                <a:sym typeface="Helvetica Neue"/>
              </a:rPr>
              <a:t>Lets Write some code</a:t>
            </a:r>
            <a:endParaRPr sz="3300" dirty="0">
              <a:solidFill>
                <a:schemeClr val="dk1"/>
              </a:solidFill>
              <a:latin typeface="Helvetica Neue"/>
              <a:ea typeface="Helvetica Neue"/>
              <a:cs typeface="Helvetica Neue"/>
              <a:sym typeface="Helvetica Neue"/>
            </a:endParaRPr>
          </a:p>
          <a:p>
            <a:pPr marL="0" lvl="0" indent="0" algn="l" rtl="0">
              <a:spcBef>
                <a:spcPts val="0"/>
              </a:spcBef>
              <a:spcAft>
                <a:spcPts val="0"/>
              </a:spcAft>
              <a:buNone/>
            </a:pPr>
            <a:endParaRPr dirty="0"/>
          </a:p>
        </p:txBody>
      </p:sp>
      <p:sp>
        <p:nvSpPr>
          <p:cNvPr id="55" name="Google Shape;55;p11">
            <a:extLst>
              <a:ext uri="{FF2B5EF4-FFF2-40B4-BE49-F238E27FC236}">
                <a16:creationId xmlns:a16="http://schemas.microsoft.com/office/drawing/2014/main" id="{FEA6C22F-5ADF-DBE8-82A3-850A9E39DB91}"/>
              </a:ext>
            </a:extLst>
          </p:cNvPr>
          <p:cNvSpPr txBox="1">
            <a:spLocks noGrp="1"/>
          </p:cNvSpPr>
          <p:nvPr>
            <p:ph type="body" idx="1"/>
          </p:nvPr>
        </p:nvSpPr>
        <p:spPr>
          <a:xfrm>
            <a:off x="2774860" y="1410051"/>
            <a:ext cx="5905500" cy="3123311"/>
          </a:xfrm>
          <a:prstGeom prst="rect">
            <a:avLst/>
          </a:prstGeom>
        </p:spPr>
        <p:txBody>
          <a:bodyPr spcFirstLastPara="1" wrap="square" lIns="91425" tIns="91425" rIns="91425" bIns="91425" anchor="t" anchorCtr="0">
            <a:normAutofit/>
          </a:bodyPr>
          <a:lstStyle/>
          <a:p>
            <a:pPr marL="444500">
              <a:buSzPts val="2000"/>
            </a:pPr>
            <a:endParaRPr lang="en-US" sz="2200" dirty="0">
              <a:solidFill>
                <a:schemeClr val="tx1"/>
              </a:solidFill>
              <a:latin typeface="Helvetica Neue"/>
              <a:ea typeface="Helvetica Neue"/>
              <a:cs typeface="Helvetica Neue"/>
              <a:sym typeface="Helvetica Neue"/>
            </a:endParaRPr>
          </a:p>
          <a:p>
            <a:pPr marL="444500">
              <a:buSzPts val="2000"/>
            </a:pPr>
            <a:endParaRPr lang="en-US" sz="2200" dirty="0">
              <a:solidFill>
                <a:schemeClr val="tx1"/>
              </a:solidFill>
              <a:latin typeface="Helvetica Neue"/>
              <a:ea typeface="Helvetica Neue"/>
              <a:cs typeface="Helvetica Neue"/>
              <a:sym typeface="Wingdings" panose="05000000000000000000" pitchFamily="2" charset="2"/>
            </a:endParaRPr>
          </a:p>
        </p:txBody>
      </p:sp>
      <p:sp>
        <p:nvSpPr>
          <p:cNvPr id="6" name="TextBox 5">
            <a:extLst>
              <a:ext uri="{FF2B5EF4-FFF2-40B4-BE49-F238E27FC236}">
                <a16:creationId xmlns:a16="http://schemas.microsoft.com/office/drawing/2014/main" id="{72B1A449-075A-9A93-A335-B7E65C06F204}"/>
              </a:ext>
            </a:extLst>
          </p:cNvPr>
          <p:cNvSpPr txBox="1"/>
          <p:nvPr/>
        </p:nvSpPr>
        <p:spPr>
          <a:xfrm>
            <a:off x="4379174" y="1814287"/>
            <a:ext cx="284052" cy="307777"/>
          </a:xfrm>
          <a:prstGeom prst="rect">
            <a:avLst/>
          </a:prstGeom>
          <a:noFill/>
        </p:spPr>
        <p:txBody>
          <a:bodyPr wrap="none" rtlCol="0">
            <a:spAutoFit/>
          </a:bodyPr>
          <a:lstStyle/>
          <a:p>
            <a:r>
              <a:rPr lang="en-IN" dirty="0"/>
              <a:t>0</a:t>
            </a:r>
          </a:p>
        </p:txBody>
      </p:sp>
      <p:sp>
        <p:nvSpPr>
          <p:cNvPr id="7" name="TextBox 6">
            <a:extLst>
              <a:ext uri="{FF2B5EF4-FFF2-40B4-BE49-F238E27FC236}">
                <a16:creationId xmlns:a16="http://schemas.microsoft.com/office/drawing/2014/main" id="{A624C819-FCEE-01C6-9758-98704A4CE779}"/>
              </a:ext>
            </a:extLst>
          </p:cNvPr>
          <p:cNvSpPr txBox="1"/>
          <p:nvPr/>
        </p:nvSpPr>
        <p:spPr>
          <a:xfrm>
            <a:off x="4379174" y="2263973"/>
            <a:ext cx="284052" cy="307777"/>
          </a:xfrm>
          <a:prstGeom prst="rect">
            <a:avLst/>
          </a:prstGeom>
          <a:noFill/>
        </p:spPr>
        <p:txBody>
          <a:bodyPr wrap="none" rtlCol="0">
            <a:spAutoFit/>
          </a:bodyPr>
          <a:lstStyle/>
          <a:p>
            <a:r>
              <a:rPr lang="en-IN" dirty="0"/>
              <a:t>1</a:t>
            </a:r>
          </a:p>
        </p:txBody>
      </p:sp>
    </p:spTree>
    <p:extLst>
      <p:ext uri="{BB962C8B-B14F-4D97-AF65-F5344CB8AC3E}">
        <p14:creationId xmlns:p14="http://schemas.microsoft.com/office/powerpoint/2010/main" val="2517281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AC616DB9-EDD8-6CBE-8713-9794961E572C}"/>
            </a:ext>
          </a:extLst>
        </p:cNvPr>
        <p:cNvGrpSpPr/>
        <p:nvPr/>
      </p:nvGrpSpPr>
      <p:grpSpPr>
        <a:xfrm>
          <a:off x="0" y="0"/>
          <a:ext cx="0" cy="0"/>
          <a:chOff x="0" y="0"/>
          <a:chExt cx="0" cy="0"/>
        </a:xfrm>
      </p:grpSpPr>
      <p:sp>
        <p:nvSpPr>
          <p:cNvPr id="54" name="Google Shape;54;p11">
            <a:extLst>
              <a:ext uri="{FF2B5EF4-FFF2-40B4-BE49-F238E27FC236}">
                <a16:creationId xmlns:a16="http://schemas.microsoft.com/office/drawing/2014/main" id="{68629363-375B-DB57-5488-0DDA54605AC4}"/>
              </a:ext>
            </a:extLst>
          </p:cNvPr>
          <p:cNvSpPr txBox="1">
            <a:spLocks noGrp="1"/>
          </p:cNvSpPr>
          <p:nvPr>
            <p:ph type="title"/>
          </p:nvPr>
        </p:nvSpPr>
        <p:spPr>
          <a:xfrm>
            <a:off x="2640295" y="347474"/>
            <a:ext cx="5982111" cy="3194215"/>
          </a:xfrm>
          <a:prstGeom prst="rect">
            <a:avLst/>
          </a:prstGeom>
        </p:spPr>
        <p:txBody>
          <a:bodyPr spcFirstLastPara="1" wrap="square" lIns="91425" tIns="91425" rIns="91425" bIns="91425" anchor="t" anchorCtr="0">
            <a:normAutofit fontScale="90000"/>
          </a:bodyPr>
          <a:lstStyle/>
          <a:p>
            <a:pPr marL="457200" lvl="0" indent="-457200" algn="l" rtl="0">
              <a:spcBef>
                <a:spcPts val="0"/>
              </a:spcBef>
              <a:spcAft>
                <a:spcPts val="0"/>
              </a:spcAft>
              <a:buFont typeface="Arial" panose="020B0604020202020204" pitchFamily="34" charset="0"/>
              <a:buChar char="•"/>
            </a:pPr>
            <a:r>
              <a:rPr lang="en-IN" dirty="0"/>
              <a:t>Load TCNT0  - IE Minimum value </a:t>
            </a:r>
            <a:br>
              <a:rPr lang="en-IN" dirty="0"/>
            </a:br>
            <a:r>
              <a:rPr lang="en-IN" dirty="0"/>
              <a:t>configure normal mode </a:t>
            </a:r>
            <a:br>
              <a:rPr lang="en-IN" dirty="0"/>
            </a:br>
            <a:r>
              <a:rPr lang="en-IN" dirty="0"/>
              <a:t>configure no </a:t>
            </a:r>
            <a:r>
              <a:rPr lang="en-IN" dirty="0" err="1"/>
              <a:t>prescaling</a:t>
            </a:r>
            <a:r>
              <a:rPr lang="en-IN" dirty="0"/>
              <a:t> </a:t>
            </a:r>
            <a:br>
              <a:rPr lang="en-IN" dirty="0"/>
            </a:br>
            <a:r>
              <a:rPr lang="en-IN" dirty="0"/>
              <a:t>configure loop (find out count for required delay)</a:t>
            </a:r>
            <a:br>
              <a:rPr lang="en-IN" dirty="0"/>
            </a:br>
            <a:r>
              <a:rPr lang="en-IN" dirty="0"/>
              <a:t>wait until the TOV0 flag is set</a:t>
            </a:r>
            <a:br>
              <a:rPr lang="en-IN" dirty="0"/>
            </a:br>
            <a:r>
              <a:rPr lang="en-IN" dirty="0"/>
              <a:t>reset TOV0 Flag</a:t>
            </a:r>
            <a:br>
              <a:rPr lang="en-IN" dirty="0"/>
            </a:br>
            <a:r>
              <a:rPr lang="en-IN" dirty="0"/>
              <a:t>Repeat loop until condition is violated </a:t>
            </a:r>
            <a:br>
              <a:rPr lang="en-IN" dirty="0"/>
            </a:br>
            <a:endParaRPr dirty="0"/>
          </a:p>
        </p:txBody>
      </p:sp>
      <p:sp>
        <p:nvSpPr>
          <p:cNvPr id="6" name="TextBox 5">
            <a:extLst>
              <a:ext uri="{FF2B5EF4-FFF2-40B4-BE49-F238E27FC236}">
                <a16:creationId xmlns:a16="http://schemas.microsoft.com/office/drawing/2014/main" id="{5B24B80B-0B92-CD7D-685B-7A4A59BC85EE}"/>
              </a:ext>
            </a:extLst>
          </p:cNvPr>
          <p:cNvSpPr txBox="1"/>
          <p:nvPr/>
        </p:nvSpPr>
        <p:spPr>
          <a:xfrm>
            <a:off x="4379174" y="1814287"/>
            <a:ext cx="284052" cy="307777"/>
          </a:xfrm>
          <a:prstGeom prst="rect">
            <a:avLst/>
          </a:prstGeom>
          <a:noFill/>
        </p:spPr>
        <p:txBody>
          <a:bodyPr wrap="none" rtlCol="0">
            <a:spAutoFit/>
          </a:bodyPr>
          <a:lstStyle/>
          <a:p>
            <a:r>
              <a:rPr lang="en-IN" dirty="0"/>
              <a:t>0</a:t>
            </a:r>
          </a:p>
        </p:txBody>
      </p:sp>
      <p:sp>
        <p:nvSpPr>
          <p:cNvPr id="7" name="TextBox 6">
            <a:extLst>
              <a:ext uri="{FF2B5EF4-FFF2-40B4-BE49-F238E27FC236}">
                <a16:creationId xmlns:a16="http://schemas.microsoft.com/office/drawing/2014/main" id="{457B2F07-4C68-73CF-6087-B42656618FE2}"/>
              </a:ext>
            </a:extLst>
          </p:cNvPr>
          <p:cNvSpPr txBox="1"/>
          <p:nvPr/>
        </p:nvSpPr>
        <p:spPr>
          <a:xfrm>
            <a:off x="4379174" y="2263973"/>
            <a:ext cx="284052" cy="307777"/>
          </a:xfrm>
          <a:prstGeom prst="rect">
            <a:avLst/>
          </a:prstGeom>
          <a:noFill/>
        </p:spPr>
        <p:txBody>
          <a:bodyPr wrap="none" rtlCol="0">
            <a:spAutoFit/>
          </a:bodyPr>
          <a:lstStyle/>
          <a:p>
            <a:r>
              <a:rPr lang="en-IN" dirty="0"/>
              <a:t>1</a:t>
            </a:r>
          </a:p>
        </p:txBody>
      </p:sp>
    </p:spTree>
    <p:extLst>
      <p:ext uri="{BB962C8B-B14F-4D97-AF65-F5344CB8AC3E}">
        <p14:creationId xmlns:p14="http://schemas.microsoft.com/office/powerpoint/2010/main" val="1559068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p:nvPr/>
        </p:nvSpPr>
        <p:spPr>
          <a:xfrm>
            <a:off x="2510200" y="1939350"/>
            <a:ext cx="6354600" cy="632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3200" b="1">
                <a:solidFill>
                  <a:srgbClr val="FFE2B0"/>
                </a:solidFill>
                <a:latin typeface="Helvetica Neue"/>
                <a:ea typeface="Helvetica Neue"/>
                <a:cs typeface="Helvetica Neue"/>
                <a:sym typeface="Helvetica Neue"/>
              </a:rPr>
              <a:t>THANK YOU</a:t>
            </a:r>
            <a:r>
              <a:rPr lang="en" sz="3200" b="1">
                <a:solidFill>
                  <a:srgbClr val="B0DAFF"/>
                </a:solidFill>
                <a:latin typeface="Helvetica Neue"/>
                <a:ea typeface="Helvetica Neue"/>
                <a:cs typeface="Helvetica Neue"/>
                <a:sym typeface="Helvetica Neue"/>
              </a:rPr>
              <a:t> </a:t>
            </a:r>
            <a:endParaRPr sz="3200" b="1">
              <a:solidFill>
                <a:srgbClr val="B0DAFF"/>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F0F0F0"/>
      </a:dk1>
      <a:lt1>
        <a:srgbClr val="121212"/>
      </a:lt1>
      <a:dk2>
        <a:srgbClr val="808080"/>
      </a:dk2>
      <a:lt2>
        <a:srgbClr val="4A4A4A"/>
      </a:lt2>
      <a:accent1>
        <a:srgbClr val="B0DAFF"/>
      </a:accent1>
      <a:accent2>
        <a:srgbClr val="33997D"/>
      </a:accent2>
      <a:accent3>
        <a:srgbClr val="F87B7C"/>
      </a:accent3>
      <a:accent4>
        <a:srgbClr val="9965AD"/>
      </a:accent4>
      <a:accent5>
        <a:srgbClr val="FFF2BC"/>
      </a:accent5>
      <a:accent6>
        <a:srgbClr val="FFE2B0"/>
      </a:accent6>
      <a:hlink>
        <a:srgbClr val="B0DA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3831</TotalTime>
  <Words>340</Words>
  <Application>Microsoft Office PowerPoint</Application>
  <PresentationFormat>On-screen Show (16:9)</PresentationFormat>
  <Paragraphs>64</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Helvetica Neue</vt:lpstr>
      <vt:lpstr>Arial</vt:lpstr>
      <vt:lpstr>Anek Malayalam</vt:lpstr>
      <vt:lpstr>Anek Malayalam SemiBold</vt:lpstr>
      <vt:lpstr>Simple Light</vt:lpstr>
      <vt:lpstr>AVR Timer 0 Programming</vt:lpstr>
      <vt:lpstr>AVR Timer 0 </vt:lpstr>
      <vt:lpstr>Delay Function </vt:lpstr>
      <vt:lpstr>TCNT0 </vt:lpstr>
      <vt:lpstr>TCCR0 </vt:lpstr>
      <vt:lpstr>TCCR0A &amp;TCCR0B </vt:lpstr>
      <vt:lpstr>TCCR0A &amp; TCCR0B </vt:lpstr>
      <vt:lpstr>TIFR(Timer/Counter Interrupt Flag Register </vt:lpstr>
      <vt:lpstr>The undigested TIFR0 |= (1 &lt;&lt; TOV0);</vt:lpstr>
      <vt:lpstr>Everything else is NORMAL</vt:lpstr>
      <vt:lpstr>Lets Write some code </vt:lpstr>
      <vt:lpstr>Load TCNT0  - IE Minimum value  configure normal mode  configure no prescaling  configure loop (find out count for required delay) wait until the TOV0 flag is set reset TOV0 Flag Repeat loop until condition is violated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Sreejith Rajan</dc:creator>
  <cp:lastModifiedBy>Sreejith Rajan</cp:lastModifiedBy>
  <cp:revision>29</cp:revision>
  <dcterms:modified xsi:type="dcterms:W3CDTF">2025-11-27T14:57:44Z</dcterms:modified>
</cp:coreProperties>
</file>