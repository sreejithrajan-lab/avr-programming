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6"/>
  </p:notesMasterIdLst>
  <p:sldIdLst>
    <p:sldId id="256" r:id="rId2"/>
    <p:sldId id="293" r:id="rId3"/>
    <p:sldId id="282" r:id="rId4"/>
    <p:sldId id="258" r:id="rId5"/>
    <p:sldId id="285" r:id="rId6"/>
    <p:sldId id="283" r:id="rId7"/>
    <p:sldId id="267" r:id="rId8"/>
    <p:sldId id="294" r:id="rId9"/>
    <p:sldId id="291" r:id="rId10"/>
    <p:sldId id="290" r:id="rId11"/>
    <p:sldId id="287" r:id="rId12"/>
    <p:sldId id="292" r:id="rId13"/>
    <p:sldId id="274" r:id="rId14"/>
    <p:sldId id="264" r:id="rId15"/>
  </p:sldIdLst>
  <p:sldSz cx="9144000" cy="5143500" type="screen16x9"/>
  <p:notesSz cx="6858000" cy="9144000"/>
  <p:embeddedFontLst>
    <p:embeddedFont>
      <p:font typeface="Anek Malayalam" panose="020B0604020202020204" charset="0"/>
      <p:regular r:id="rId17"/>
      <p:bold r:id="rId18"/>
    </p:embeddedFont>
    <p:embeddedFont>
      <p:font typeface="Anek Malayalam SemiBold" panose="020B0604020202020204" charset="0"/>
      <p:regular r:id="rId19"/>
      <p:bold r:id="rId20"/>
    </p:embeddedFont>
    <p:embeddedFont>
      <p:font typeface="Helvetica Neue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1-27T15:12:57.160" v="1776" actId="20577"/>
      <pc:docMkLst>
        <pc:docMk/>
      </pc:docMkLst>
      <pc:sldChg chg="delSp modSp add mod ord">
        <pc:chgData name="Sreejith Rajan" userId="ec11bca0e4bee75f" providerId="LiveId" clId="{7B4F392D-EAB3-4CE7-903E-F84869825F47}" dt="2025-11-27T15:12:57.160" v="1776" actId="20577"/>
        <pc:sldMkLst>
          <pc:docMk/>
          <pc:sldMk cId="1886088078" sldId="293"/>
        </pc:sldMkLst>
        <pc:spChg chg="mod">
          <ac:chgData name="Sreejith Rajan" userId="ec11bca0e4bee75f" providerId="LiveId" clId="{7B4F392D-EAB3-4CE7-903E-F84869825F47}" dt="2025-11-27T15:12:57.160" v="1776" actId="20577"/>
          <ac:spMkLst>
            <pc:docMk/>
            <pc:sldMk cId="1886088078" sldId="293"/>
            <ac:spMk id="55" creationId="{BAEA60A2-6523-62E4-B4D3-4E0BF968E4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479FE72-E56D-3EFF-D8CC-FBD5F935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BA6A8DA-24D0-49CB-7B6B-4F2A3F68E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1E7AE680-05B7-EE6A-974C-7866C57CE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263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EC7F45F-22FB-8B83-798F-03C0738C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10A1F72C-DBCA-73D5-4319-A7FDC2A0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036135E-791A-84AF-0BEC-1D06AB018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273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F83276EB-F4B2-D99E-34FD-B8BFA3D3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>
            <a:extLst>
              <a:ext uri="{FF2B5EF4-FFF2-40B4-BE49-F238E27FC236}">
                <a16:creationId xmlns:a16="http://schemas.microsoft.com/office/drawing/2014/main" id="{800C32EA-A2AE-AC0A-696F-31B96CA36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>
            <a:extLst>
              <a:ext uri="{FF2B5EF4-FFF2-40B4-BE49-F238E27FC236}">
                <a16:creationId xmlns:a16="http://schemas.microsoft.com/office/drawing/2014/main" id="{E988F3D7-7EBF-EA1C-A6D6-C91C3C571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2559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8C6DD6E-578F-BEA3-9397-B01626D4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22894E38-BF59-3A9C-A7F1-21D9EB6099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B7037B9E-054D-3BA3-9304-AFFDF812AD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821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ECA89B7-AA3F-FD7E-AB65-88B732AF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F663E214-624F-6931-9819-CEFB7F7B2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D4AC08E-24E6-11C1-D605-416DEE4814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206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32036F3-F8AD-79CF-21E9-A2EBA01A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58D2AA27-2D9A-D6DD-8B86-0E46B63232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70B845A-C3BE-3608-C567-B5EEE5FDAB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0123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D58EA23-D08E-14F1-ED63-02309B84E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EA2B1D7C-9444-BE90-1B4B-32B61EFDCA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CC94A273-88EE-1DC8-9123-965306758B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7572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59F915F-73CB-91CA-D2B5-57EBFF5B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1CE7C572-F632-A3E3-ADAE-0AE01EFCE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4BD48485-BFB0-6953-0B8C-FBE3603D2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538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3CC0674-90B6-EAEB-6338-ED422B1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355D79EB-42FF-85CA-8FFC-F2A42F043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4340FE91-4FAE-F81E-4431-09BEF7A1A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29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2B41D3A-F0B9-2ECF-8D39-6A610F1D3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21D39B66-EF5E-C216-F469-819302FE5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0ECB3E6-849C-9CFB-686A-26E0FDB25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063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9252589-6268-B43D-1D63-1DD53932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9EE3877F-46F9-4127-2ACB-5A4A6CA64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8BD85E11-0A7C-4F0C-7CBD-2BBF50288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468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8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AVR Timer 0 Programming - CTC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6AE57D2-A71B-85BF-7C1E-583A084D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DF19AD3-EF11-9DCE-2D34-41B14C706D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Recap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BAEA60A2-6523-62E4-B4D3-4E0BF968E4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r>
              <a:rPr lang="en-IN" sz="20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Understood about Timer </a:t>
            </a:r>
          </a:p>
          <a:p>
            <a:pPr marL="444500">
              <a:buSzPts val="2000"/>
            </a:pPr>
            <a:r>
              <a:rPr lang="en-IN" sz="20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Timer registers</a:t>
            </a:r>
          </a:p>
          <a:p>
            <a:pPr marL="444500">
              <a:buSzPts val="2000"/>
            </a:pPr>
            <a:r>
              <a:rPr lang="en-IN" sz="20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Wrote a delay function using Timer 0 in normal mode without a </a:t>
            </a:r>
            <a:r>
              <a:rPr lang="en-IN" sz="200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prescalar</a:t>
            </a:r>
            <a:endParaRPr lang="en-IN" sz="20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44500">
              <a:buSzPts val="2000"/>
            </a:pPr>
            <a:r>
              <a:rPr lang="en-IN" sz="20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Done using </a:t>
            </a:r>
            <a:r>
              <a:rPr lang="en-IN" sz="200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prescalar</a:t>
            </a:r>
            <a:r>
              <a:rPr lang="en-IN" sz="20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IN"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1024</a:t>
            </a:r>
            <a:endParaRPr lang="en-IN" sz="20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44500">
              <a:buSzPts val="2000"/>
            </a:pPr>
            <a:r>
              <a:rPr lang="en-IN" sz="20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use the available </a:t>
            </a:r>
            <a:r>
              <a:rPr lang="en-IN" sz="200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prescalar</a:t>
            </a:r>
            <a:r>
              <a:rPr lang="en-IN" sz="200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depending on our needs</a:t>
            </a:r>
          </a:p>
          <a:p>
            <a:pPr marL="444500">
              <a:buSzPts val="2000"/>
            </a:pPr>
            <a:endParaRPr lang="en-IN"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44500">
              <a:buSzPts val="2000"/>
            </a:pPr>
            <a:endParaRPr sz="20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608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33E41AE-3E35-FB62-FF2F-404B2109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283C473-62FC-4E7F-0537-4DF7FFC8F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TCNT0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DBEBA7C-FD1D-B57A-1E7D-B25370E3E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F8FF4-FAFB-9274-50A5-C9C0753EA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046" y="2233679"/>
            <a:ext cx="5666704" cy="67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9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AVR Timer 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/>
          <p:cNvSpPr txBox="1"/>
          <p:nvPr/>
        </p:nvSpPr>
        <p:spPr>
          <a:xfrm>
            <a:off x="2636951" y="1109166"/>
            <a:ext cx="5274000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F74B4C-E0C7-DF56-73A9-85DF4FA43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267" y="939800"/>
            <a:ext cx="4810257" cy="41090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B5F0FD63-E2C6-3346-9533-4F323DCC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>
            <a:extLst>
              <a:ext uri="{FF2B5EF4-FFF2-40B4-BE49-F238E27FC236}">
                <a16:creationId xmlns:a16="http://schemas.microsoft.com/office/drawing/2014/main" id="{AD0C9125-2529-87A6-A821-EF0157BECE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 TCCR 0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>
            <a:extLst>
              <a:ext uri="{FF2B5EF4-FFF2-40B4-BE49-F238E27FC236}">
                <a16:creationId xmlns:a16="http://schemas.microsoft.com/office/drawing/2014/main" id="{E974ABAE-A1E9-5AF4-4F05-9A6B3B72156A}"/>
              </a:ext>
            </a:extLst>
          </p:cNvPr>
          <p:cNvSpPr txBox="1"/>
          <p:nvPr/>
        </p:nvSpPr>
        <p:spPr>
          <a:xfrm>
            <a:off x="2926725" y="1057650"/>
            <a:ext cx="5274000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15A76-7B21-037E-1031-980EB6A2B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250" y="1636745"/>
            <a:ext cx="6021172" cy="177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09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28EF502-B7A5-FB11-7111-8A17DC353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165450FA-9AB0-DAAA-8787-5819DF6E5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TIFR (Timer/Counter Interrupt Flag Register)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A940B4-60B1-C71C-1017-06860D68A9DF}"/>
              </a:ext>
            </a:extLst>
          </p:cNvPr>
          <p:cNvCxnSpPr/>
          <p:nvPr/>
        </p:nvCxnSpPr>
        <p:spPr>
          <a:xfrm>
            <a:off x="4959350" y="2946400"/>
            <a:ext cx="3683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DB9AF5-5F8C-E3E1-BDCC-AC1AC0B2B78C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2C31E-5BC7-321B-E77E-D3ACB25CE27A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648779-8BF8-78D3-9138-28544F501A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0518"/>
          <a:stretch>
            <a:fillRect/>
          </a:stretch>
        </p:blipFill>
        <p:spPr>
          <a:xfrm>
            <a:off x="2959378" y="1579185"/>
            <a:ext cx="5383243" cy="9267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AD386F-7DC7-0085-2793-2C6547FC3F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405" b="42288"/>
          <a:stretch>
            <a:fillRect/>
          </a:stretch>
        </p:blipFill>
        <p:spPr>
          <a:xfrm>
            <a:off x="2752717" y="3406827"/>
            <a:ext cx="5851033" cy="13695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98130A-5A5C-D029-15B2-D4DF6EF905FC}"/>
              </a:ext>
            </a:extLst>
          </p:cNvPr>
          <p:cNvSpPr txBox="1"/>
          <p:nvPr/>
        </p:nvSpPr>
        <p:spPr>
          <a:xfrm>
            <a:off x="4757662" y="2900940"/>
            <a:ext cx="1732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</a:t>
            </a:r>
            <a:r>
              <a:rPr lang="en-IN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328 TIFR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62503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0740191-610A-1721-727A-563C7CD2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505CB07C-62A7-0E4C-6035-03E85C6DF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Timer 0 - CTC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5BBAB8-4EBF-2324-8EDD-04F2726E9CCA}"/>
              </a:ext>
            </a:extLst>
          </p:cNvPr>
          <p:cNvCxnSpPr/>
          <p:nvPr/>
        </p:nvCxnSpPr>
        <p:spPr>
          <a:xfrm>
            <a:off x="4959350" y="2946400"/>
            <a:ext cx="3683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3A9819-F112-E25B-7138-2A0760126BA6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FCA25-35B8-69A0-48BE-B820046C9609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C9CC41F-9FD7-9D53-4AC5-97DFC8CE4F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82608" y="972291"/>
            <a:ext cx="613678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CTC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Clear Timer on Compare.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What to compare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Value in TCNT0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Whom to Compare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- A setpoint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Where is the setpoint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 It can be saved in OCR0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45312C-625C-D860-C976-5B390A0AC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608" y="2367062"/>
            <a:ext cx="6136783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 b="0" i="0" u="none" strike="noStrike" cap="none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 sz="1400" b="0" i="0" u="none" strike="noStrike" cap="none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 sz="1400" b="0" i="0" u="none" strike="noStrike" cap="none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 sz="1400" b="0" i="0" u="none" strike="noStrike" cap="none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 sz="1400" b="0" i="0" u="none" strike="noStrike" cap="none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 sz="1400" b="0" i="0" u="none" strike="noStrike" cap="none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 sz="1400" b="0" i="0" u="none" strike="noStrike" cap="none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 sz="1400" b="0" i="0" u="none" strike="noStrike" cap="none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 sz="1400" b="0" i="0" u="none" strike="noStrike" cap="none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nek Malayalam"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OCR0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→ Output Compare Register for Timer 0.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nek Malayalam"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 have OCR0A and OCR0B.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Both are 8-bit registers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OCR0A – Used in CTC Mode and PWM. It can Reset the timer when TCNTO = OCR0A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OCR0B – Usually Used in PWM(Or an extra register for an interrupt event ). It cannot reset the timer.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nek Malayalam"/>
              <a:buNone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nek Malayalam"/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8962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44C5908-DCE9-5A57-7306-DB16EF0A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070D4CEB-346F-EA4B-1F19-D30D94FFEB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3891" y="192929"/>
            <a:ext cx="5905500" cy="1120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happens when TCNT0=OCR0A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237C17-981D-E361-B236-2BE39AA34EB8}"/>
              </a:ext>
            </a:extLst>
          </p:cNvPr>
          <p:cNvCxnSpPr/>
          <p:nvPr/>
        </p:nvCxnSpPr>
        <p:spPr>
          <a:xfrm>
            <a:off x="4959350" y="2946400"/>
            <a:ext cx="3683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AEB0EF-29A9-8431-DBE3-66C6F4AF2A00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DC828-9888-6935-15F7-F93DB2415B48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21AD0-78C9-5D42-52BB-F418054F5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13891" y="1715500"/>
            <a:ext cx="5905500" cy="2461800"/>
          </a:xfrm>
        </p:spPr>
        <p:txBody>
          <a:bodyPr/>
          <a:lstStyle/>
          <a:p>
            <a:r>
              <a:rPr lang="en-IN" dirty="0"/>
              <a:t>OCF0A(Output Compare Flag for Timer 0) will be set in TIFR0 register.</a:t>
            </a:r>
          </a:p>
          <a:p>
            <a:endParaRPr lang="en-IN" dirty="0"/>
          </a:p>
          <a:p>
            <a:r>
              <a:rPr lang="en-IN" dirty="0"/>
              <a:t>So keep checking for it (That’s called polling)</a:t>
            </a:r>
          </a:p>
        </p:txBody>
      </p:sp>
    </p:spTree>
    <p:extLst>
      <p:ext uri="{BB962C8B-B14F-4D97-AF65-F5344CB8AC3E}">
        <p14:creationId xmlns:p14="http://schemas.microsoft.com/office/powerpoint/2010/main" val="81214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084252A-5A39-BA6C-50C4-C61C6F0C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F79F0B4A-6313-A23F-5FB6-EB12E447B4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Algorithm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66153E-803B-52B4-804A-F3178A598676}"/>
              </a:ext>
            </a:extLst>
          </p:cNvPr>
          <p:cNvCxnSpPr/>
          <p:nvPr/>
        </p:nvCxnSpPr>
        <p:spPr>
          <a:xfrm>
            <a:off x="4959350" y="2946400"/>
            <a:ext cx="3683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05C7225-9A62-110D-05B9-1D0C6AF76166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B75FF-6A34-A616-8894-51EDEA9D951D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43E001C-40B7-18BE-6C3D-5E9878FFA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82608" y="804487"/>
            <a:ext cx="613678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Set CTC mode: WGM01=1, WGM00=0.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Load OCR0A with the calculated value.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Set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prescalar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(If wanted. </a:t>
            </a:r>
            <a:r>
              <a:rPr lang="en-US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choose closest available: 8 or 64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).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Reset counter TCNT0=0.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Start timer.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Poll OCF0A flag in TIFR0.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When set, clear it and count 1 tick.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Repeat required ticks to build up the desired delay.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54169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A45AFBB-1F51-6C9A-198E-AAE074FC0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3E528862-9120-2015-67B5-FE0308727B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TIFR 0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10797E-5E62-2418-40E7-985609F023A9}"/>
              </a:ext>
            </a:extLst>
          </p:cNvPr>
          <p:cNvCxnSpPr/>
          <p:nvPr/>
        </p:nvCxnSpPr>
        <p:spPr>
          <a:xfrm>
            <a:off x="4959350" y="2946400"/>
            <a:ext cx="368300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DA8E9B9-8031-5EBA-4FB9-532214F58CDC}"/>
              </a:ext>
            </a:extLst>
          </p:cNvPr>
          <p:cNvGrpSpPr/>
          <p:nvPr/>
        </p:nvGrpSpPr>
        <p:grpSpPr>
          <a:xfrm>
            <a:off x="2460172" y="1184117"/>
            <a:ext cx="6683828" cy="1682451"/>
            <a:chOff x="3011555" y="1082519"/>
            <a:chExt cx="5515745" cy="11608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6B11D8-6D4A-063D-1223-156D055CD7BE}"/>
                </a:ext>
              </a:extLst>
            </p:cNvPr>
            <p:cNvSpPr txBox="1"/>
            <p:nvPr/>
          </p:nvSpPr>
          <p:spPr>
            <a:xfrm>
              <a:off x="4255802" y="148592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F6544E-63EE-4E11-CA6E-03443C0A8AB8}"/>
                </a:ext>
              </a:extLst>
            </p:cNvPr>
            <p:cNvSpPr txBox="1"/>
            <p:nvPr/>
          </p:nvSpPr>
          <p:spPr>
            <a:xfrm>
              <a:off x="4255802" y="193560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CB85055-4F9D-35BD-6809-B1EC0DA9C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1555" y="1082519"/>
              <a:ext cx="5515745" cy="111458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AA1DDE-4E8C-A86B-CCA1-59212A405CAF}"/>
                </a:ext>
              </a:extLst>
            </p:cNvPr>
            <p:cNvSpPr/>
            <p:nvPr/>
          </p:nvSpPr>
          <p:spPr>
            <a:xfrm>
              <a:off x="3136190" y="1360735"/>
              <a:ext cx="577850" cy="8363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16396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D38584-9F2E-A179-FCB7-9F46BA70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C4CE2FAD-1A13-21FB-4CDB-D7E0702E4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Let’s start to be more professional- Modularity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FF1E4D12-E5A8-7B19-694A-8370FEB4E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15029" y="1560286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44500">
              <a:buSzPts val="2000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Modularity</a:t>
            </a:r>
          </a:p>
          <a:p>
            <a:pPr marL="444500">
              <a:buSzPts val="2000"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01700" lvl="1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Breaking a big program into smaller, independent, reusable pieces (modules)</a:t>
            </a:r>
          </a:p>
          <a:p>
            <a:pPr marL="584200" lvl="1" indent="0">
              <a:buSzPts val="2000"/>
              <a:buNone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44500">
              <a:buSzPts val="2000"/>
            </a:pPr>
            <a:r>
              <a:rPr lang="en-IN" sz="24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Idea</a:t>
            </a:r>
          </a:p>
          <a:p>
            <a:pPr marL="901700" lvl="1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Header files (.h) = "What" (declarations, interfaces)</a:t>
            </a:r>
          </a:p>
          <a:p>
            <a:pPr marL="901700" lvl="1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files (.c) = "How" (definitions, implementations)</a:t>
            </a:r>
          </a:p>
          <a:p>
            <a:pPr marL="901700" lvl="1">
              <a:buSzPts val="2000"/>
            </a:pPr>
            <a:r>
              <a:rPr lang="en-US" sz="18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main.c</a:t>
            </a: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"When/Why" (application logic using the modules)</a:t>
            </a:r>
          </a:p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9D143-8BAE-94DC-08F8-20BCB21DAA6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9199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E301D25-5CC5-B639-2EAE-70339388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EDC9C741-9EF9-AD1A-B10B-C0F0FD0E55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Modularity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26607F08-7416-A9D7-E979-6607C70A9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r>
              <a:rPr lang="en-IN" sz="2400" dirty="0"/>
              <a:t>Why Modularity is Important?</a:t>
            </a:r>
          </a:p>
          <a:p>
            <a:pPr marL="101600" indent="0">
              <a:buSzPts val="2000"/>
              <a:buNone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69950" lvl="1" indent="-285750">
              <a:buSzPts val="2000"/>
            </a:pPr>
            <a:r>
              <a:rPr lang="en-US" sz="1800" b="1" dirty="0"/>
              <a:t>Readability</a:t>
            </a:r>
          </a:p>
          <a:p>
            <a:pPr marL="869950" lvl="1" indent="-285750">
              <a:buSzPts val="2000"/>
            </a:pPr>
            <a:r>
              <a:rPr lang="en-US" sz="1800" b="1" dirty="0"/>
              <a:t>Reusability </a:t>
            </a:r>
          </a:p>
          <a:p>
            <a:pPr marL="869950" lvl="1" indent="-285750">
              <a:buSzPts val="2000"/>
            </a:pPr>
            <a:r>
              <a:rPr lang="en-US" sz="1800" b="1" dirty="0"/>
              <a:t>Maintainability </a:t>
            </a:r>
          </a:p>
          <a:p>
            <a:pPr marL="869950" lvl="1" indent="-285750">
              <a:buSzPts val="2000"/>
            </a:pPr>
            <a:r>
              <a:rPr lang="en-US" sz="1800" b="1" dirty="0"/>
              <a:t>Teamwork </a:t>
            </a:r>
          </a:p>
          <a:p>
            <a:pPr marL="869950" lvl="1" indent="-285750">
              <a:buSzPts val="2000"/>
            </a:pPr>
            <a:r>
              <a:rPr lang="en-US" sz="1800" b="1" dirty="0"/>
              <a:t>Scalability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F4F91-FAB7-0C84-8A6A-EF5A56661F21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0133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CED2995-AF43-D54E-50A0-70E983C0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F5C408E8-BC47-B2C2-7462-C129AFFB4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4993" y="2263973"/>
            <a:ext cx="5982111" cy="9916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Lets make it modular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1A449-075A-9A93-A335-B7E65C06F204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4C819-FCEE-01C6-9758-98704A4CE779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7281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357</Words>
  <Application>Microsoft Office PowerPoint</Application>
  <PresentationFormat>On-screen Show (16:9)</PresentationFormat>
  <Paragraphs>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Helvetica Neue</vt:lpstr>
      <vt:lpstr>Arial</vt:lpstr>
      <vt:lpstr>Anek Malayalam</vt:lpstr>
      <vt:lpstr>Anek Malayalam SemiBold</vt:lpstr>
      <vt:lpstr>Simple Light</vt:lpstr>
      <vt:lpstr>AVR Timer 0 Programming - CTC</vt:lpstr>
      <vt:lpstr>Recap </vt:lpstr>
      <vt:lpstr>TCNT0 </vt:lpstr>
      <vt:lpstr>AVR Timer  </vt:lpstr>
      <vt:lpstr>ATMEGA 328 TCCR 0 </vt:lpstr>
      <vt:lpstr>TIFR (Timer/Counter Interrupt Flag Register) </vt:lpstr>
      <vt:lpstr>Timer 0 - CTC </vt:lpstr>
      <vt:lpstr>What happens when TCNT0=OCR0A </vt:lpstr>
      <vt:lpstr>Program Algorithm </vt:lpstr>
      <vt:lpstr>TIFR 0 </vt:lpstr>
      <vt:lpstr>Let’s start to be more professional- Modularity </vt:lpstr>
      <vt:lpstr>Modularity </vt:lpstr>
      <vt:lpstr>Lets make it modular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2025-11-27T15:13:01Z</dcterms:modified>
</cp:coreProperties>
</file>