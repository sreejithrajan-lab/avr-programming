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3"/>
  </p:notesMasterIdLst>
  <p:sldIdLst>
    <p:sldId id="256" r:id="rId2"/>
    <p:sldId id="258" r:id="rId3"/>
    <p:sldId id="259" r:id="rId4"/>
    <p:sldId id="281" r:id="rId5"/>
    <p:sldId id="282" r:id="rId6"/>
    <p:sldId id="267" r:id="rId7"/>
    <p:sldId id="283" r:id="rId8"/>
    <p:sldId id="284" r:id="rId9"/>
    <p:sldId id="285" r:id="rId10"/>
    <p:sldId id="286" r:id="rId11"/>
    <p:sldId id="264" r:id="rId12"/>
  </p:sldIdLst>
  <p:sldSz cx="9144000" cy="5143500" type="screen16x9"/>
  <p:notesSz cx="6858000" cy="9144000"/>
  <p:embeddedFontLst>
    <p:embeddedFont>
      <p:font typeface="Anek Malayalam" panose="020B0604020202020204" charset="0"/>
      <p:regular r:id="rId14"/>
      <p:bold r:id="rId15"/>
    </p:embeddedFont>
    <p:embeddedFont>
      <p:font typeface="Anek Malayalam SemiBold" panose="020B0604020202020204" charset="0"/>
      <p:regular r:id="rId16"/>
      <p:bold r:id="rId17"/>
    </p:embeddedFont>
    <p:embeddedFont>
      <p:font typeface="Helvetica Neue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custSel modSld">
      <pc:chgData name="Sreejith Rajan" userId="ec11bca0e4bee75f" providerId="LiveId" clId="{7B4F392D-EAB3-4CE7-903E-F84869825F47}" dt="2025-11-11T14:19:47.717" v="0" actId="478"/>
      <pc:docMkLst>
        <pc:docMk/>
      </pc:docMkLst>
      <pc:sldChg chg="delSp mod">
        <pc:chgData name="Sreejith Rajan" userId="ec11bca0e4bee75f" providerId="LiveId" clId="{7B4F392D-EAB3-4CE7-903E-F84869825F47}" dt="2025-11-11T14:19:47.717" v="0" actId="478"/>
        <pc:sldMkLst>
          <pc:docMk/>
          <pc:sldMk cId="3362503428" sldId="283"/>
        </pc:sldMkLst>
        <pc:cxnChg chg="del">
          <ac:chgData name="Sreejith Rajan" userId="ec11bca0e4bee75f" providerId="LiveId" clId="{7B4F392D-EAB3-4CE7-903E-F84869825F47}" dt="2025-11-11T14:19:47.717" v="0" actId="478"/>
          <ac:cxnSpMkLst>
            <pc:docMk/>
            <pc:sldMk cId="3362503428" sldId="283"/>
            <ac:cxnSpMk id="5" creationId="{5FA940B4-60B1-C71C-1017-06860D68A9D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570C6CA-FC2B-50B8-291E-1AED90AC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D28A02E-D70B-9B07-F94D-C3FACB34E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E7145B5-6E7B-4EE2-08D5-D40EBABE7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230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C7F45F-22FB-8B83-798F-03C0738C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0A1F72C-DBCA-73D5-4319-A7FDC2A0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036135E-791A-84AF-0BEC-1D06AB018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273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ECA89B7-AA3F-FD7E-AB65-88B732AF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F663E214-624F-6931-9819-CEFB7F7B2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D4AC08E-24E6-11C1-D605-416DEE481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206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8C6DD6E-578F-BEA3-9397-B01626D4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2894E38-BF59-3A9C-A7F1-21D9EB609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B7037B9E-054D-3BA3-9304-AFFDF812AD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821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DE74903-6EAE-C2EB-7F62-ED37862C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EED35733-95C1-9767-30D4-28FA9D9D2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0B643D8-DBA8-5361-229B-4BB41D8393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002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5EC8B30-A849-EFE4-9261-82931B58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C5BB6ECE-BA20-FB17-7E20-A068D2BD3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07F01260-F53E-035C-B424-0C98F470C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669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E1D297C-CC8A-0441-7064-8B0D9E7F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6134EDAE-6EA9-9295-185F-D234E66F3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0FE5F6AC-9F75-11D2-A954-7AF12375A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133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AVR Architecture 1 – ATMEGA 328 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/>
          <p:cNvSpPr txBox="1"/>
          <p:nvPr/>
        </p:nvSpPr>
        <p:spPr>
          <a:xfrm>
            <a:off x="2926724" y="1057650"/>
            <a:ext cx="6011213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AVR?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 by Alf-Egil Bogen and Vegard Wollan.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Family of 8-bit RISC microcontrollers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Developed by Atmel (now Microchip)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Widely used in Arduino boards, embedded systems, and consumer electronics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AVR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Simple, efficient, and beginner-friendly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Rich set of peripherals (timers, ADC, serial interfaces)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Strong foundation for learning microcontrollers and embedded systems</a:t>
            </a:r>
            <a:endParaRPr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8497F26-3D14-2303-06EB-FB2FFF87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B15B2B1-49F5-2797-EA94-FD8176141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Features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3F769B9D-F2C9-ED4B-5F86-A4260FE8E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RISC architecture → Most instructions execute in 1 clock cycle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endParaRPr lang="en-US"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Harvard architecture → Separate program &amp; data memory</a:t>
            </a:r>
            <a:endParaRPr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0470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33E41AE-3E35-FB62-FF2F-404B2109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283C473-62FC-4E7F-0537-4DF7FFC8F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AVR Block Diagram 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DBEBA7C-FD1D-B57A-1E7D-B25370E3E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endParaRPr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5A7CFA-A38A-45B0-C0D8-08D5047DB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531" y="1084189"/>
            <a:ext cx="4922948" cy="36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9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740191-610A-1721-727A-563C7CD2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505CB07C-62A7-0E4C-6035-03E85C6DF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3441B73-3EF0-0031-34E8-88A822C7B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8-bit AVR RISC CPU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× 8-bit General Purpose Registers directly connected to ALU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 Program Memory: 32 KB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SRAM: 2 KB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EEPROM: 1 KB (non-volatile data storage)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5BBAB8-4EBF-2324-8EDD-04F2726E9CCA}"/>
              </a:ext>
            </a:extLst>
          </p:cNvPr>
          <p:cNvCxnSpPr/>
          <p:nvPr/>
        </p:nvCxnSpPr>
        <p:spPr>
          <a:xfrm>
            <a:off x="4959350" y="2946400"/>
            <a:ext cx="3683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3A9819-F112-E25B-7138-2A0760126BA6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FCA25-35B8-69A0-48BE-B820046C9609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89626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28EF502-B7A5-FB11-7111-8A17DC35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165450FA-9AB0-DAAA-8787-5819DF6E5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22BC745A-16A2-15E8-2595-E18634E1D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Frequency: up to 20 MHz (16 MHz on Arduino UNO)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Voltage: 1.8 V – 5.5 V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I/O Pins: 23 programmable I/O lines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Timers: Two 8-bit timers (Timer0, Timer2)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16-bit timer (Timer1) with capture/compare/PWM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B9AF5-5F8C-E3E1-BDCC-AC1AC0B2B78C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2C31E-5BC7-321B-E77E-D3ACB25CE27A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62503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28C2A2D-6E93-3C43-2D80-9416AC77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BC4D53D3-3CC7-8ED7-B381-879570B9B3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15A23119-03B0-4084-F3A2-71E24E49B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Analogue-to-Digital Converter (ADC):10-bit resolution, 6 channels (DIP package), 8 channels (TQFP/QFN)</a:t>
            </a:r>
          </a:p>
          <a:p>
            <a:pPr marL="444500">
              <a:buSzPts val="2000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 Interfaces:</a:t>
            </a: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USART (serial)</a:t>
            </a: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SPI</a:t>
            </a: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I²C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28BEB-6A0C-8963-528A-8B60F719D676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E4873-9398-F057-814F-2673398499F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96615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A33BF2E-560D-F8B5-6C7C-6E71572E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BD71BF94-80E9-B83A-06FD-F8B668F1F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6BEB0E42-D1CA-59A5-9488-2502CA7BE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1C902-EA40-2049-5E0F-6877922BA01D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A9A41-0228-6B61-02CB-7BDC9E84AF59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49E54F-32FF-A872-DFAD-A13C2BC8A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0" y="1098460"/>
            <a:ext cx="4165600" cy="312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4DB7B7-8B39-AB5C-99C4-470C26264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092" y="1152473"/>
            <a:ext cx="1829108" cy="1667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656B9C-8D8D-3826-C97D-DB27E2D75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616" y="2819509"/>
            <a:ext cx="1869584" cy="140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99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7B5586D-FF49-E80B-E855-8D5D2ED4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D6A271FB-F06E-A094-1264-BE3F39E98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 – GPIO Programming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E31F05FC-C44B-CD53-A530-278FD5640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91433" y="1519522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Things to remember </a:t>
            </a:r>
          </a:p>
          <a:p>
            <a:pPr marL="444500">
              <a:buSzPts val="20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Direction Register(</a:t>
            </a:r>
            <a:r>
              <a:rPr lang="en-US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DDRx</a:t>
            </a: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register</a:t>
            </a:r>
          </a:p>
          <a:p>
            <a:pPr marL="444500">
              <a:buSzPts val="2000"/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01700" lvl="1">
              <a:buSzPts val="2000"/>
            </a:pPr>
            <a:r>
              <a:rPr lang="en-US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 </a:t>
            </a: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means that the pin is INPUT. </a:t>
            </a:r>
            <a:r>
              <a:rPr lang="en-US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means that the pin is OUTPUT</a:t>
            </a:r>
          </a:p>
          <a:p>
            <a:pPr marL="901700" lvl="1">
              <a:buSzPts val="2000"/>
            </a:pPr>
            <a:endParaRPr lang="en-US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>
              <a:buSzPts val="2000"/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PORTx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register (outputting value to a pin)</a:t>
            </a:r>
          </a:p>
          <a:p>
            <a:pPr marL="444500">
              <a:buSzPts val="2000"/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PINx</a:t>
            </a: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Register (inputting value through a pin) </a:t>
            </a:r>
          </a:p>
          <a:p>
            <a:pPr marL="444500">
              <a:buSzPts val="2000"/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Bitwise operations</a:t>
            </a:r>
          </a:p>
          <a:p>
            <a:pPr marL="444500">
              <a:buSzPts val="2000"/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52FF7-E019-52B4-7985-B04BEABE1816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8839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 dirty="0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 dirty="0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286</Words>
  <Application>Microsoft Office PowerPoint</Application>
  <PresentationFormat>On-screen Show (16:9)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Anek Malayalam</vt:lpstr>
      <vt:lpstr>Anek Malayalam SemiBold</vt:lpstr>
      <vt:lpstr>Helvetica Neue</vt:lpstr>
      <vt:lpstr>Simple Light</vt:lpstr>
      <vt:lpstr>AVR Architecture 1 – ATMEGA 328 </vt:lpstr>
      <vt:lpstr>Introduction </vt:lpstr>
      <vt:lpstr>Why AVR </vt:lpstr>
      <vt:lpstr>Key Features </vt:lpstr>
      <vt:lpstr>AVR Block Diagram  </vt:lpstr>
      <vt:lpstr>ATMEGA 328 </vt:lpstr>
      <vt:lpstr>ATMEGA 328 </vt:lpstr>
      <vt:lpstr>ATMEGA 328</vt:lpstr>
      <vt:lpstr>ATMEGA 328</vt:lpstr>
      <vt:lpstr>ATMEGA 328 – GPIO Programming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29</cp:revision>
  <dcterms:modified xsi:type="dcterms:W3CDTF">2025-11-11T14:19:58Z</dcterms:modified>
</cp:coreProperties>
</file>