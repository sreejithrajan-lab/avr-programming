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1"/>
  </p:notesMasterIdLst>
  <p:sldIdLst>
    <p:sldId id="256" r:id="rId2"/>
    <p:sldId id="258" r:id="rId3"/>
    <p:sldId id="285" r:id="rId4"/>
    <p:sldId id="286" r:id="rId5"/>
    <p:sldId id="287" r:id="rId6"/>
    <p:sldId id="288" r:id="rId7"/>
    <p:sldId id="289" r:id="rId8"/>
    <p:sldId id="290" r:id="rId9"/>
    <p:sldId id="264" r:id="rId10"/>
  </p:sldIdLst>
  <p:sldSz cx="9144000" cy="5143500" type="screen16x9"/>
  <p:notesSz cx="6858000" cy="9144000"/>
  <p:embeddedFontLst>
    <p:embeddedFont>
      <p:font typeface="Anek Malayalam" panose="020B0604020202020204" charset="0"/>
      <p:regular r:id="rId12"/>
      <p:bold r:id="rId13"/>
    </p:embeddedFont>
    <p:embeddedFont>
      <p:font typeface="Anek Malayalam SemiBold" panose="020B0604020202020204" charset="0"/>
      <p:regular r:id="rId14"/>
      <p:bold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custSel modSld">
      <pc:chgData name="Sreejith Rajan" userId="ec11bca0e4bee75f" providerId="LiveId" clId="{7B4F392D-EAB3-4CE7-903E-F84869825F47}" dt="2026-01-22T15:31:30.205" v="0" actId="478"/>
      <pc:docMkLst>
        <pc:docMk/>
      </pc:docMkLst>
      <pc:sldChg chg="delSp mod">
        <pc:chgData name="Sreejith Rajan" userId="ec11bca0e4bee75f" providerId="LiveId" clId="{7B4F392D-EAB3-4CE7-903E-F84869825F47}" dt="2026-01-22T15:31:30.205" v="0" actId="478"/>
        <pc:sldMkLst>
          <pc:docMk/>
          <pc:sldMk cId="3940705627" sldId="289"/>
        </pc:sldMkLst>
        <pc:spChg chg="del">
          <ac:chgData name="Sreejith Rajan" userId="ec11bca0e4bee75f" providerId="LiveId" clId="{7B4F392D-EAB3-4CE7-903E-F84869825F47}" dt="2026-01-22T15:31:30.205" v="0" actId="478"/>
          <ac:spMkLst>
            <pc:docMk/>
            <pc:sldMk cId="3940705627" sldId="289"/>
            <ac:spMk id="4" creationId="{688CFE87-77E9-1FBC-FA66-DAF4B14072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5EC8B30-A849-EFE4-9261-82931B58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5BB6ECE-BA20-FB17-7E20-A068D2BD3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7F01260-F53E-035C-B424-0C98F470C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6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E1D297C-CC8A-0441-7064-8B0D9E7F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6134EDAE-6EA9-9295-185F-D234E66F3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FE5F6AC-9F75-11D2-A954-7AF12375A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13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CE259FB-E369-6D74-8373-237CB6D1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1941365-8013-B8FB-F30F-7A9CE73D4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F90754E7-E326-5BAF-BD9B-473D61EEF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6242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73F376A-11F4-0EAB-746F-7725ED39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6E0908A3-61C8-75D1-C5D3-04F5758E86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10DB9813-E530-0B22-0519-E3D121108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27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2B8986E-F515-A348-D72F-8A9B7BC0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407FACD-07EC-8F5D-3F22-0DD763CBF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1BCDD673-2B64-EBBB-59A1-6959BD4F8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009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AVR Architecture 2 – ATMEGA 328 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AVR?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 by Alf-Egil Bogen and Vegard Wollan.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Family of 8-bit RISC microcontrollers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Developed by Atmel (now Microchip)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Widely used in Arduino boards, embedded systems, and consumer electronics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A33BF2E-560D-F8B5-6C7C-6E71572E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D71BF94-80E9-B83A-06FD-F8B668F1F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EB0E42-D1CA-59A5-9488-2502CA7BE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1C902-EA40-2049-5E0F-6877922BA01D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A9A41-0228-6B61-02CB-7BDC9E84AF5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9E54F-32FF-A872-DFAD-A13C2BC8A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1098460"/>
            <a:ext cx="4165600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DB7B7-8B39-AB5C-99C4-470C26264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092" y="1152473"/>
            <a:ext cx="1829108" cy="1667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56B9C-8D8D-3826-C97D-DB27E2D7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616" y="2819509"/>
            <a:ext cx="1869584" cy="140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9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B5586D-FF49-E80B-E855-8D5D2ED4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D6A271FB-F06E-A094-1264-BE3F39E98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– GPIO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31F05FC-C44B-CD53-A530-278FD5640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Things to remember 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Direction Register(</a:t>
            </a:r>
            <a:r>
              <a:rPr lang="en-US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DDRx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register</a:t>
            </a:r>
          </a:p>
          <a:p>
            <a:pPr marL="444500">
              <a:buSzPts val="2000"/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01700" lvl="1">
              <a:buSzPts val="2000"/>
            </a:pP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 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means that the pin is INPUT. </a:t>
            </a: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means that the pin is OUTPUT</a:t>
            </a:r>
          </a:p>
          <a:p>
            <a:pPr marL="901700" lvl="1">
              <a:buSzPts val="2000"/>
            </a:pPr>
            <a:endParaRPr lang="en-US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PORTx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 (outputting value to a pin)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PINx</a:t>
            </a: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 (inputting value through a pin) </a:t>
            </a:r>
          </a:p>
          <a:p>
            <a:pPr marL="444500">
              <a:buSzPts val="2000"/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Bitwise operations</a:t>
            </a:r>
          </a:p>
          <a:p>
            <a:pPr marL="444500">
              <a:buSzPts val="2000"/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52FF7-E019-52B4-7985-B04BEABE181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8839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122A6E4-C804-8944-2F97-4A611FE7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F5A8EA7-E5B0-9657-C43F-C4067A2C6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– GPIO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D459962-4DD0-F78C-D4B1-9533D50F2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7350" indent="-285750">
              <a:buSzPts val="2000"/>
            </a:pPr>
            <a:r>
              <a:rPr lang="en-US" sz="18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Up Resistor 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 pull-up resistor is a resistor that connects an input pin to the positive supply voltage (</a:t>
            </a: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Vcc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</a:p>
          <a:p>
            <a:pPr marL="387350" indent="-285750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job is to make sure the pin has a defined logic level (HIGH = 1) when the switch is open (not pressed).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3B04FF-8750-6B33-0F7E-A5848F3E21C9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6374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90B2070-8524-2B5C-8ED9-A6B4F1B3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2737F751-0717-0E59-6633-D9BA2D244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– GPIO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1D1C086-CEB8-963B-EA88-5E660E81E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7350" indent="-285750">
              <a:buSzPts val="2000"/>
            </a:pPr>
            <a:r>
              <a:rPr lang="en-US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n-US" sz="18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ull-down resistor 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is the opposite of a pull-</a:t>
            </a: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up.It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connects an input pin to ground (GND) through a resistor, ensuring the pin reads LOW (0) when the switch is open.</a:t>
            </a:r>
          </a:p>
          <a:p>
            <a:pPr marL="101600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205E9-B148-E290-19A0-0D5B241517FA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054C8-B2C6-40C6-D52D-BC9087C61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74" y="2932176"/>
            <a:ext cx="3048000" cy="20604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3AA076-C728-DE15-E6C1-ACBFC6185AEC}"/>
              </a:ext>
            </a:extLst>
          </p:cNvPr>
          <p:cNvSpPr/>
          <p:nvPr/>
        </p:nvSpPr>
        <p:spPr>
          <a:xfrm>
            <a:off x="7105650" y="4400550"/>
            <a:ext cx="321524" cy="592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0F37DEC-E2D1-498C-D415-7F5B28C8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A5806864-D54F-0069-AEB3-203F428C4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– GPIO Programming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8B6D3D6C-ACD3-C0E3-6DA7-21D860400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1600" indent="0">
              <a:buSzPts val="2000"/>
              <a:buNone/>
            </a:pPr>
            <a:r>
              <a:rPr lang="en-US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</a:p>
          <a:p>
            <a:pPr marL="101600" indent="0">
              <a:buSzPts val="2000"/>
              <a:buNone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</a:p>
          <a:p>
            <a:pPr marL="101600" indent="0" algn="ctr">
              <a:buSzPts val="2000"/>
              <a:buNone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code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90999-CE85-483A-864B-D3B7118C71DF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4070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6759DC-42D5-0AF6-120A-F1878B34E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FC7E3C-2E7E-F3F7-C66E-39CC7566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EFD46-3598-942C-BF2F-87ED957FFE3C}"/>
              </a:ext>
            </a:extLst>
          </p:cNvPr>
          <p:cNvSpPr/>
          <p:nvPr/>
        </p:nvSpPr>
        <p:spPr>
          <a:xfrm>
            <a:off x="4397829" y="1632857"/>
            <a:ext cx="2126342" cy="1763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897338-A001-A220-54A0-D39590172D23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5457371" y="1342571"/>
            <a:ext cx="3629" cy="290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AF751C-2936-AD03-FC48-411D75AFF699}"/>
              </a:ext>
            </a:extLst>
          </p:cNvPr>
          <p:cNvSpPr txBox="1"/>
          <p:nvPr/>
        </p:nvSpPr>
        <p:spPr>
          <a:xfrm>
            <a:off x="5508171" y="1188682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5V</a:t>
            </a: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3D67DDF6-950E-00E4-5E3B-992DC34620F6}"/>
              </a:ext>
            </a:extLst>
          </p:cNvPr>
          <p:cNvSpPr/>
          <p:nvPr/>
        </p:nvSpPr>
        <p:spPr>
          <a:xfrm>
            <a:off x="5207000" y="2079915"/>
            <a:ext cx="500741" cy="426684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D2CD88-2DF5-049C-47A9-0BE434C3015D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5461000" y="1632857"/>
            <a:ext cx="0" cy="6074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4ACFDD-53AC-322C-CDD2-E565878EC8BF}"/>
              </a:ext>
            </a:extLst>
          </p:cNvPr>
          <p:cNvCxnSpPr>
            <a:cxnSpLocks/>
          </p:cNvCxnSpPr>
          <p:nvPr/>
        </p:nvCxnSpPr>
        <p:spPr>
          <a:xfrm flipH="1">
            <a:off x="5613400" y="2383375"/>
            <a:ext cx="1360714" cy="93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33A794-513E-7CDD-5E92-DDBC534FA3BD}"/>
              </a:ext>
            </a:extLst>
          </p:cNvPr>
          <p:cNvSpPr txBox="1"/>
          <p:nvPr/>
        </p:nvSpPr>
        <p:spPr>
          <a:xfrm>
            <a:off x="6770912" y="1992736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PB5</a:t>
            </a:r>
          </a:p>
        </p:txBody>
      </p:sp>
    </p:spTree>
    <p:extLst>
      <p:ext uri="{BB962C8B-B14F-4D97-AF65-F5344CB8AC3E}">
        <p14:creationId xmlns:p14="http://schemas.microsoft.com/office/powerpoint/2010/main" val="388023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219</Words>
  <Application>Microsoft Office PowerPoint</Application>
  <PresentationFormat>On-screen Show (16:9)</PresentationFormat>
  <Paragraphs>37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Helvetica Neue</vt:lpstr>
      <vt:lpstr>Anek Malayalam</vt:lpstr>
      <vt:lpstr>Anek Malayalam SemiBold</vt:lpstr>
      <vt:lpstr>Simple Light</vt:lpstr>
      <vt:lpstr>AVR Architecture 2 – ATMEGA 328 </vt:lpstr>
      <vt:lpstr>Introduction </vt:lpstr>
      <vt:lpstr>ATMEGA 328</vt:lpstr>
      <vt:lpstr>ATMEGA 328 – GPIO Programming</vt:lpstr>
      <vt:lpstr>ATMEGA 328 – GPIO Programming</vt:lpstr>
      <vt:lpstr>ATMEGA 328 – GPIO Programming</vt:lpstr>
      <vt:lpstr>ATMEGA 328 – GPIO Programming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2026-01-22T15:31:39Z</dcterms:modified>
</cp:coreProperties>
</file>